
<file path=[Content_Types].xml><?xml version="1.0" encoding="utf-8"?>
<Types xmlns="http://schemas.openxmlformats.org/package/2006/content-types">
  <Default Extension="jp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2" r:id="rId6"/>
    <p:sldId id="278" r:id="rId7"/>
    <p:sldId id="277" r:id="rId8"/>
    <p:sldId id="263" r:id="rId9"/>
    <p:sldId id="264" r:id="rId10"/>
    <p:sldId id="279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6230" autoAdjust="0"/>
  </p:normalViewPr>
  <p:slideViewPr>
    <p:cSldViewPr snapToGrid="0" snapToObjects="1">
      <p:cViewPr varScale="1">
        <p:scale>
          <a:sx n="92" d="100"/>
          <a:sy n="92" d="100"/>
        </p:scale>
        <p:origin x="12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1117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6787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4" dirty="0">
                <a:solidFill>
                  <a:srgbClr val="CCCCCC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캡스톤디자인Ⅱ  계획발표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경량 Early Exit 딥러닝을 이용한</a:t>
            </a:r>
            <a:endParaRPr lang="en-US" sz="3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산업 무선망 트래픽 혼잡 감지 및 엣지 배포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22960" y="4809677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CCCC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팀원  </a:t>
            </a:r>
            <a:r>
              <a:rPr lang="en-US" sz="1500" dirty="0">
                <a:solidFill>
                  <a:srgbClr val="FFFFFF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유용상 · 장예나 · </a:t>
            </a:r>
            <a:r>
              <a:rPr lang="en-US" sz="1500" dirty="0" err="1">
                <a:solidFill>
                  <a:srgbClr val="FFFFFF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김호중</a:t>
            </a:r>
            <a:endParaRPr lang="en-US" sz="15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05DCDD4-BBB0-37B6-5FAE-DBDBD8AAF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482" y="236662"/>
            <a:ext cx="965452" cy="9639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발표 순서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68680" y="181051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178308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배경 및 필요성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53772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28800" y="251029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목표 및 범위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352339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28800" y="3324907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추진 계획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133339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4105907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추진 전략 및 수행 방법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4921063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28800" y="4893631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기대효과</a:t>
            </a:r>
            <a:endParaRPr lang="en-US" sz="16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9142251-A29B-9A47-920E-E8AF9351F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482" y="236662"/>
            <a:ext cx="965452" cy="9639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26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3</a:t>
            </a:r>
            <a:endParaRPr lang="en-US" sz="100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9E2B7F1D-AED0-B828-8B91-3F6D003EE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482" y="236662"/>
            <a:ext cx="965452" cy="963934"/>
          </a:xfrm>
          <a:prstGeom prst="rect">
            <a:avLst/>
          </a:prstGeom>
        </p:spPr>
      </p:pic>
      <p:cxnSp>
        <p:nvCxnSpPr>
          <p:cNvPr id="31" name="Connector 30"/>
          <p:cNvCxnSpPr/>
          <p:nvPr/>
        </p:nvCxnSpPr>
        <p:spPr>
          <a:xfrm>
            <a:off x="688490" y="3156853"/>
            <a:ext cx="10698480" cy="0"/>
          </a:xfrm>
          <a:prstGeom prst="line">
            <a:avLst/>
          </a:prstGeom>
          <a:ln w="571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88490" y="3092845"/>
            <a:ext cx="0" cy="128016"/>
          </a:xfrm>
          <a:prstGeom prst="line">
            <a:avLst/>
          </a:prstGeom>
          <a:ln w="571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88490" y="2589925"/>
            <a:ext cx="1920240" cy="292608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400" kern="0" spc="15">
                <a:solidFill>
                  <a:srgbClr val="111111"/>
                </a:solidFill>
                <a:latin typeface="Batang"/>
                <a:ea typeface="Batang"/>
              </a:rPr>
              <a:t>1학기 · 계획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490" y="3495181"/>
            <a:ext cx="2468880" cy="729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동적</a:t>
            </a:r>
            <a:r>
              <a:rPr sz="140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4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자원</a:t>
            </a:r>
            <a:r>
              <a:rPr sz="140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4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할당</a:t>
            </a:r>
            <a:endParaRPr sz="1400" b="0" kern="0" spc="10" dirty="0">
              <a:solidFill>
                <a:srgbClr val="555555"/>
              </a:solidFill>
              <a:latin typeface="Batang"/>
              <a:ea typeface="Batang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kern="0" spc="10" dirty="0">
                <a:solidFill>
                  <a:srgbClr val="555555"/>
                </a:solidFill>
                <a:latin typeface="Batang"/>
                <a:ea typeface="Batang"/>
              </a:rPr>
              <a:t>LSTM </a:t>
            </a:r>
            <a:r>
              <a:rPr sz="14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트래픽</a:t>
            </a:r>
            <a:r>
              <a:rPr sz="140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4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예측</a:t>
            </a:r>
            <a:endParaRPr sz="1400" b="0" kern="0" spc="10" dirty="0">
              <a:solidFill>
                <a:srgbClr val="555555"/>
              </a:solidFill>
              <a:latin typeface="Batang"/>
              <a:ea typeface="Batang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강화학습</a:t>
            </a:r>
            <a:r>
              <a:rPr sz="1400" b="0" kern="0" spc="10" dirty="0">
                <a:solidFill>
                  <a:srgbClr val="555555"/>
                </a:solidFill>
                <a:latin typeface="Batang"/>
                <a:ea typeface="Batang"/>
              </a:rPr>
              <a:t> · </a:t>
            </a:r>
            <a:r>
              <a:rPr sz="14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클라우드</a:t>
            </a:r>
            <a:endParaRPr sz="1400" b="0" kern="0" spc="10" dirty="0">
              <a:solidFill>
                <a:srgbClr val="555555"/>
              </a:solidFill>
              <a:latin typeface="Batang"/>
              <a:ea typeface="Batang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3431690" y="3092845"/>
            <a:ext cx="0" cy="128016"/>
          </a:xfrm>
          <a:prstGeom prst="line">
            <a:avLst/>
          </a:prstGeom>
          <a:ln w="571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431690" y="2589925"/>
            <a:ext cx="1920240" cy="292608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400" kern="0" spc="15">
                <a:solidFill>
                  <a:srgbClr val="111111"/>
                </a:solidFill>
                <a:latin typeface="Batang"/>
                <a:ea typeface="Batang"/>
              </a:rPr>
              <a:t>1학기 · 중간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31690" y="3495181"/>
            <a:ext cx="2468880" cy="729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kern="0" spc="10">
                <a:solidFill>
                  <a:srgbClr val="555555"/>
                </a:solidFill>
                <a:latin typeface="Batang"/>
                <a:ea typeface="Batang"/>
              </a:rPr>
              <a:t>경량 딥러닝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kern="0" spc="10">
                <a:solidFill>
                  <a:srgbClr val="555555"/>
                </a:solidFill>
                <a:latin typeface="Batang"/>
                <a:ea typeface="Batang"/>
              </a:rPr>
              <a:t>무선 네트워크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kern="0" spc="10">
                <a:solidFill>
                  <a:srgbClr val="555555"/>
                </a:solidFill>
                <a:latin typeface="Batang"/>
                <a:ea typeface="Batang"/>
              </a:rPr>
              <a:t>자원 운용 최적화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74890" y="3092845"/>
            <a:ext cx="0" cy="128016"/>
          </a:xfrm>
          <a:prstGeom prst="line">
            <a:avLst/>
          </a:prstGeom>
          <a:ln w="571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174890" y="2589925"/>
            <a:ext cx="1920240" cy="292608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400" kern="0" spc="15">
                <a:solidFill>
                  <a:srgbClr val="111111"/>
                </a:solidFill>
                <a:latin typeface="Batang"/>
                <a:ea typeface="Batang"/>
              </a:rPr>
              <a:t>1학기 · 최종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4890" y="3495181"/>
            <a:ext cx="2468880" cy="729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kern="0" spc="10">
                <a:solidFill>
                  <a:srgbClr val="555555"/>
                </a:solidFill>
                <a:latin typeface="Batang"/>
                <a:ea typeface="Batang"/>
              </a:rPr>
              <a:t>Early Exit LSTM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kern="0" spc="10">
                <a:solidFill>
                  <a:srgbClr val="555555"/>
                </a:solidFill>
                <a:latin typeface="Batang"/>
                <a:ea typeface="Batang"/>
              </a:rPr>
              <a:t>무선망 혼잡 감지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kern="0" spc="10">
                <a:solidFill>
                  <a:srgbClr val="555555"/>
                </a:solidFill>
                <a:latin typeface="Batang"/>
                <a:ea typeface="Batang"/>
              </a:rPr>
              <a:t>엣지 단독 추론 · 라즈베리파이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918090" y="3092845"/>
            <a:ext cx="0" cy="128016"/>
          </a:xfrm>
          <a:prstGeom prst="line">
            <a:avLst/>
          </a:prstGeom>
          <a:ln w="571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8918090" y="2589925"/>
            <a:ext cx="2514600" cy="29260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400" kern="0" spc="15">
                <a:solidFill>
                  <a:srgbClr val="FFFFFF"/>
                </a:solidFill>
                <a:latin typeface="Batang"/>
                <a:ea typeface="Batang"/>
              </a:rPr>
              <a:t>2학기 · 계획 (현재)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8090" y="3495181"/>
            <a:ext cx="2468880" cy="729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kern="0" spc="10">
                <a:solidFill>
                  <a:srgbClr val="555555"/>
                </a:solidFill>
                <a:latin typeface="Batang"/>
                <a:ea typeface="Batang"/>
              </a:rPr>
              <a:t>실제 WiFi 환경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kern="0" spc="10">
                <a:solidFill>
                  <a:srgbClr val="555555"/>
                </a:solidFill>
                <a:latin typeface="Batang"/>
                <a:ea typeface="Batang"/>
              </a:rPr>
              <a:t>동적 threshold 개선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kern="0" spc="10">
                <a:solidFill>
                  <a:srgbClr val="555555"/>
                </a:solidFill>
                <a:latin typeface="Batang"/>
                <a:ea typeface="Batang"/>
              </a:rPr>
              <a:t>Pi 실측 · OpenWrt 시연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산업</a:t>
            </a:r>
            <a:r>
              <a:rPr lang="en-US" sz="29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 </a:t>
            </a:r>
            <a:r>
              <a:rPr lang="en-US" sz="2900" b="1" dirty="0" err="1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현황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4</a:t>
            </a:r>
            <a:endParaRPr lang="en-US" sz="10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D17A67D-BA45-2ADF-E875-C24A8E45E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482" y="236662"/>
            <a:ext cx="965452" cy="963934"/>
          </a:xfrm>
          <a:prstGeom prst="rect">
            <a:avLst/>
          </a:prstGeom>
        </p:spPr>
      </p:pic>
      <p:cxnSp>
        <p:nvCxnSpPr>
          <p:cNvPr id="21" name="Connector 20"/>
          <p:cNvCxnSpPr/>
          <p:nvPr/>
        </p:nvCxnSpPr>
        <p:spPr>
          <a:xfrm>
            <a:off x="822960" y="4445644"/>
            <a:ext cx="10698480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4919471"/>
            <a:ext cx="914400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100" b="1" kern="0" spc="15">
                <a:solidFill>
                  <a:srgbClr val="FFFFFF"/>
                </a:solidFill>
                <a:latin typeface="Batang"/>
                <a:ea typeface="Batang"/>
              </a:rPr>
              <a:t>문제점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829692"/>
            <a:ext cx="9509760" cy="490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 kern="0" spc="10">
                <a:latin typeface="Batang"/>
                <a:ea typeface="Batang"/>
              </a:rPr>
              <a:t>다수 기기 동시 통신 → 채널 혼잡 · 간섭 · 지연 증가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 kern="0" spc="10">
                <a:latin typeface="Batang"/>
                <a:ea typeface="Batang"/>
              </a:rPr>
              <a:t>혼잡 → 생산라인 안정성 · 실시간 제어 성능에 직접 영향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157294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4400" b="1" kern="0" spc="10">
                <a:solidFill>
                  <a:srgbClr val="111111"/>
                </a:solidFill>
                <a:latin typeface="Batang"/>
                <a:ea typeface="Batang"/>
              </a:rPr>
              <a:t>75.5%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" y="3197360"/>
            <a:ext cx="493776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22960" y="3197360"/>
            <a:ext cx="3728008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60" y="33802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 kern="0" spc="10">
                <a:solidFill>
                  <a:srgbClr val="111111"/>
                </a:solidFill>
                <a:latin typeface="Batang"/>
                <a:ea typeface="Batang"/>
              </a:rPr>
              <a:t>도입 기업 중 기초 수준에 머무는 비율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7460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1" kern="0" spc="10">
                <a:solidFill>
                  <a:srgbClr val="888888"/>
                </a:solidFill>
                <a:latin typeface="Batang"/>
                <a:ea typeface="Batang"/>
              </a:rPr>
              <a:t>중소벤처기업부, 2024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0" y="2358462"/>
            <a:ext cx="0" cy="196596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12280" y="2187076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 kern="0" spc="10">
                <a:solidFill>
                  <a:srgbClr val="111111"/>
                </a:solidFill>
                <a:latin typeface="Batang"/>
                <a:ea typeface="Batang"/>
              </a:rPr>
              <a:t>19.5%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 b="0" kern="0" spc="10">
                <a:solidFill>
                  <a:srgbClr val="555555"/>
                </a:solidFill>
                <a:latin typeface="Batang"/>
                <a:ea typeface="Batang"/>
              </a:rPr>
              <a:t>스마트팩토리 도입률 — 제조기업 5곳 중 1곳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 i="1" kern="0" spc="10">
                <a:solidFill>
                  <a:srgbClr val="888888"/>
                </a:solidFill>
                <a:latin typeface="Batang"/>
                <a:ea typeface="Batang"/>
              </a:rPr>
              <a:t>중소벤처기업부, 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284356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 kern="0" spc="10">
                <a:solidFill>
                  <a:srgbClr val="111111"/>
                </a:solidFill>
                <a:latin typeface="Batang"/>
                <a:ea typeface="Batang"/>
              </a:rPr>
              <a:t>490만 대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 b="0" kern="0" spc="10">
                <a:solidFill>
                  <a:srgbClr val="555555"/>
                </a:solidFill>
                <a:latin typeface="Batang"/>
                <a:ea typeface="Batang"/>
              </a:rPr>
              <a:t>산업용 WiFi AP · 2030년 출하량 전망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 i="1" kern="0" spc="10">
                <a:solidFill>
                  <a:srgbClr val="888888"/>
                </a:solidFill>
                <a:latin typeface="Batang"/>
                <a:ea typeface="Batang"/>
              </a:rPr>
              <a:t>시장 전망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98015E7-126B-3E31-4DD3-A8844D3718C7}"/>
              </a:ext>
            </a:extLst>
          </p:cNvPr>
          <p:cNvSpPr/>
          <p:nvPr/>
        </p:nvSpPr>
        <p:spPr>
          <a:xfrm>
            <a:off x="548640" y="1586753"/>
            <a:ext cx="10935148" cy="42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관련 연구 동향과 한계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5</a:t>
            </a:r>
            <a:endParaRPr lang="en-US" sz="10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7C67652-6F2F-9B77-984A-895AAC615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482" y="236662"/>
            <a:ext cx="965452" cy="9639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22960" y="1874519"/>
            <a:ext cx="2011680" cy="310896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400" kern="0" spc="15" dirty="0" err="1">
                <a:solidFill>
                  <a:schemeClr val="tx1"/>
                </a:solidFill>
                <a:latin typeface="Batang"/>
                <a:ea typeface="Batang"/>
              </a:rPr>
              <a:t>기존</a:t>
            </a:r>
            <a:r>
              <a:rPr sz="1400" kern="0" spc="15" dirty="0">
                <a:solidFill>
                  <a:schemeClr val="tx1"/>
                </a:solidFill>
                <a:latin typeface="Batang"/>
                <a:ea typeface="Batang"/>
              </a:rPr>
              <a:t> </a:t>
            </a:r>
            <a:r>
              <a:rPr sz="1400" kern="0" spc="15" dirty="0" err="1">
                <a:solidFill>
                  <a:schemeClr val="tx1"/>
                </a:solidFill>
                <a:latin typeface="Batang"/>
                <a:ea typeface="Batang"/>
              </a:rPr>
              <a:t>연구</a:t>
            </a:r>
            <a:r>
              <a:rPr sz="1400" kern="0" spc="15" dirty="0">
                <a:solidFill>
                  <a:schemeClr val="tx1"/>
                </a:solidFill>
                <a:latin typeface="Batang"/>
                <a:ea typeface="Batang"/>
              </a:rPr>
              <a:t> </a:t>
            </a:r>
            <a:r>
              <a:rPr sz="1400" kern="0" spc="15" dirty="0" err="1">
                <a:solidFill>
                  <a:schemeClr val="tx1"/>
                </a:solidFill>
                <a:latin typeface="Batang"/>
                <a:ea typeface="Batang"/>
              </a:rPr>
              <a:t>동향</a:t>
            </a:r>
            <a:endParaRPr sz="1400" kern="0" spc="15" dirty="0">
              <a:solidFill>
                <a:schemeClr val="tx1"/>
              </a:solidFill>
              <a:latin typeface="Batang"/>
              <a:ea typeface="Batang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83680" y="1874519"/>
            <a:ext cx="3200400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400" kern="0" spc="15">
                <a:solidFill>
                  <a:srgbClr val="FFFFFF"/>
                </a:solidFill>
                <a:latin typeface="Batang"/>
                <a:ea typeface="Batang"/>
              </a:rPr>
              <a:t>연구 공백 — 공략 지점</a:t>
            </a:r>
          </a:p>
        </p:txBody>
      </p:sp>
      <p:sp>
        <p:nvSpPr>
          <p:cNvPr id="110" name="Timeline Line"/>
          <p:cNvSpPr/>
          <p:nvPr/>
        </p:nvSpPr>
        <p:spPr>
          <a:xfrm>
            <a:off x="1149350" y="2730500"/>
            <a:ext cx="12700" cy="12192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1" name="Year 2016"/>
          <p:cNvSpPr/>
          <p:nvPr/>
        </p:nvSpPr>
        <p:spPr>
          <a:xfrm>
            <a:off x="825500" y="2476500"/>
            <a:ext cx="660400" cy="254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kern="0" spc="10" dirty="0">
                <a:solidFill>
                  <a:srgbClr val="FFFFFF"/>
                </a:solidFill>
                <a:latin typeface="Batang"/>
                <a:ea typeface="Batang"/>
              </a:rPr>
              <a:t>2016</a:t>
            </a:r>
          </a:p>
        </p:txBody>
      </p:sp>
      <p:sp>
        <p:nvSpPr>
          <p:cNvPr id="114" name="TL Text 1"/>
          <p:cNvSpPr txBox="1"/>
          <p:nvPr/>
        </p:nvSpPr>
        <p:spPr>
          <a:xfrm>
            <a:off x="1651000" y="2425700"/>
            <a:ext cx="4013200" cy="558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lang="ko-KR" sz="1200" b="1" kern="0" spc="10" dirty="0">
                <a:solidFill>
                  <a:srgbClr val="111111"/>
                </a:solidFill>
                <a:latin typeface="Batang"/>
                <a:ea typeface="Batang"/>
              </a:rPr>
              <a:t>BranchyNet</a:t>
            </a:r>
            <a:r>
              <a:rPr lang="ko-KR"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이후 Early Exit 경량 딥러닝 연구 지속</a:t>
            </a:r>
          </a:p>
        </p:txBody>
      </p:sp>
      <p:sp>
        <p:nvSpPr>
          <p:cNvPr id="112" name="Year 2023"/>
          <p:cNvSpPr/>
          <p:nvPr/>
        </p:nvSpPr>
        <p:spPr>
          <a:xfrm>
            <a:off x="825500" y="3200400"/>
            <a:ext cx="660400" cy="254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kern="0" spc="10" dirty="0">
                <a:solidFill>
                  <a:srgbClr val="FFFFFF"/>
                </a:solidFill>
                <a:latin typeface="Batang"/>
                <a:ea typeface="Batang"/>
              </a:rPr>
              <a:t>2023</a:t>
            </a:r>
          </a:p>
        </p:txBody>
      </p:sp>
      <p:sp>
        <p:nvSpPr>
          <p:cNvPr id="115" name="TL Text 2"/>
          <p:cNvSpPr txBox="1"/>
          <p:nvPr/>
        </p:nvSpPr>
        <p:spPr>
          <a:xfrm>
            <a:off x="1651000" y="3149600"/>
            <a:ext cx="4013200" cy="558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lang="ko-KR" sz="1200" b="1" kern="0" spc="10" dirty="0">
                <a:solidFill>
                  <a:srgbClr val="111111"/>
                </a:solidFill>
                <a:latin typeface="Batang"/>
                <a:ea typeface="Batang"/>
              </a:rPr>
              <a:t>Mohammed et al.</a:t>
            </a:r>
            <a:r>
              <a:rPr lang="ko-KR"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후속 연구</a:t>
            </a:r>
          </a:p>
        </p:txBody>
      </p:sp>
      <p:sp>
        <p:nvSpPr>
          <p:cNvPr id="113" name="Year 2024"/>
          <p:cNvSpPr/>
          <p:nvPr/>
        </p:nvSpPr>
        <p:spPr>
          <a:xfrm>
            <a:off x="825500" y="3924300"/>
            <a:ext cx="660400" cy="254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kern="0" spc="10" dirty="0">
                <a:solidFill>
                  <a:srgbClr val="FFFFFF"/>
                </a:solidFill>
                <a:latin typeface="Batang"/>
                <a:ea typeface="Batang"/>
              </a:rPr>
              <a:t>2024</a:t>
            </a:r>
          </a:p>
        </p:txBody>
      </p:sp>
      <p:sp>
        <p:nvSpPr>
          <p:cNvPr id="116" name="TL Text 3"/>
          <p:cNvSpPr txBox="1"/>
          <p:nvPr/>
        </p:nvSpPr>
        <p:spPr>
          <a:xfrm>
            <a:off x="1651000" y="3873500"/>
            <a:ext cx="4013200" cy="558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lang="ko-KR" sz="1200" b="1" kern="0" spc="10" dirty="0">
                <a:solidFill>
                  <a:srgbClr val="111111"/>
                </a:solidFill>
                <a:latin typeface="Batang"/>
                <a:ea typeface="Batang"/>
              </a:rPr>
              <a:t>KU Leuven</a:t>
            </a:r>
            <a:r>
              <a:rPr lang="ko-KR"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후속 연구</a:t>
            </a:r>
          </a:p>
        </p:txBody>
      </p:sp>
      <p:sp>
        <p:nvSpPr>
          <p:cNvPr id="117" name="TL Note"/>
          <p:cNvSpPr txBox="1"/>
          <p:nvPr/>
        </p:nvSpPr>
        <p:spPr>
          <a:xfrm>
            <a:off x="825500" y="4521200"/>
            <a:ext cx="48387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ko-KR" sz="1200" b="0" kern="0" spc="10" dirty="0">
                <a:solidFill>
                  <a:srgbClr val="555555"/>
                </a:solidFill>
                <a:latin typeface="Batang"/>
                <a:ea typeface="Batang"/>
              </a:rPr>
              <a:t>※ 대부분 이미지 분류 · 변조 분류 중심</a:t>
            </a:r>
          </a:p>
        </p:txBody>
      </p:sp>
      <p:sp>
        <p:nvSpPr>
          <p:cNvPr id="118" name="Gap Card"/>
          <p:cNvSpPr/>
          <p:nvPr/>
        </p:nvSpPr>
        <p:spPr>
          <a:xfrm>
            <a:off x="6413500" y="2374900"/>
            <a:ext cx="4914900" cy="2159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9" name="Gap Text"/>
          <p:cNvSpPr txBox="1"/>
          <p:nvPr/>
        </p:nvSpPr>
        <p:spPr>
          <a:xfrm>
            <a:off x="6616700" y="2603500"/>
            <a:ext cx="4508500" cy="17272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182880" indent="-182880" algn="l">
              <a:lnSpc>
                <a:spcPct val="110000"/>
              </a:lnSpc>
              <a:spcAft>
                <a:spcPts val="1000"/>
              </a:spcAft>
              <a:buFont typeface="Arial"/>
              <a:buChar char="▪"/>
            </a:pPr>
            <a:r>
              <a:rPr lang="ko-KR" sz="1250" b="0" kern="0" spc="10" dirty="0">
                <a:solidFill>
                  <a:srgbClr val="111111"/>
                </a:solidFill>
                <a:latin typeface="Batang"/>
                <a:ea typeface="Batang"/>
              </a:rPr>
              <a:t>무선 트래픽 시계열 기반 혼잡 판단 연구 제한적</a:t>
            </a:r>
          </a:p>
          <a:p>
            <a:pPr marL="182880" indent="-182880" algn="l">
              <a:lnSpc>
                <a:spcPct val="110000"/>
              </a:lnSpc>
              <a:spcAft>
                <a:spcPts val="1000"/>
              </a:spcAft>
              <a:buFont typeface="Arial"/>
              <a:buChar char="▪"/>
            </a:pPr>
            <a:r>
              <a:rPr lang="ko-KR" sz="1250" b="0" kern="0" spc="10" dirty="0">
                <a:solidFill>
                  <a:srgbClr val="111111"/>
                </a:solidFill>
                <a:latin typeface="Batang"/>
                <a:ea typeface="Batang"/>
              </a:rPr>
              <a:t>Early Exit threshold 동적 최적화 = 미해결 과제 (ACM Computing Surveys, 2024)</a:t>
            </a:r>
          </a:p>
        </p:txBody>
      </p:sp>
      <p:sp>
        <p:nvSpPr>
          <p:cNvPr id="120" name="Conclusion Banner"/>
          <p:cNvSpPr/>
          <p:nvPr/>
        </p:nvSpPr>
        <p:spPr>
          <a:xfrm>
            <a:off x="825500" y="5054600"/>
            <a:ext cx="10502900" cy="533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400" b="1" kern="0" spc="10" dirty="0">
                <a:solidFill>
                  <a:srgbClr val="FFFFFF"/>
                </a:solidFill>
                <a:latin typeface="Batang"/>
                <a:ea typeface="Batang"/>
              </a:rPr>
              <a:t>→ 새 응용 도메인 + 동적 threshold 설계로 차별점 확보</a:t>
            </a:r>
          </a:p>
        </p:txBody>
      </p:sp>
    </p:spTree>
    <p:extLst>
      <p:ext uri="{BB962C8B-B14F-4D97-AF65-F5344CB8AC3E}">
        <p14:creationId xmlns:p14="http://schemas.microsoft.com/office/powerpoint/2010/main" val="3004232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A48A26F-C40B-0006-4B26-70E386977533}"/>
              </a:ext>
            </a:extLst>
          </p:cNvPr>
          <p:cNvSpPr/>
          <p:nvPr/>
        </p:nvSpPr>
        <p:spPr>
          <a:xfrm>
            <a:off x="548640" y="1586753"/>
            <a:ext cx="10935148" cy="42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엣지</a:t>
            </a:r>
            <a:r>
              <a:rPr lang="en-US" sz="29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 단독 </a:t>
            </a:r>
            <a:r>
              <a:rPr lang="en-US" sz="2900" b="1" dirty="0" err="1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경량</a:t>
            </a:r>
            <a:r>
              <a:rPr lang="en-US" sz="29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 AI</a:t>
            </a:r>
            <a:r>
              <a:rPr lang="ko-KR" altLang="en-US" sz="29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의</a:t>
            </a:r>
            <a:r>
              <a:rPr lang="en-US" sz="29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 </a:t>
            </a:r>
            <a:r>
              <a:rPr lang="en-US" sz="2900" b="1" dirty="0" err="1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필요</a:t>
            </a:r>
            <a:r>
              <a:rPr lang="ko-KR" altLang="en-US" sz="29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성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6</a:t>
            </a:r>
            <a:endParaRPr lang="en-US" sz="10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F1A5BFA-5DA1-014E-867D-72BE8008B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482" y="236662"/>
            <a:ext cx="965452" cy="9639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22960" y="1874519"/>
            <a:ext cx="1554480" cy="310896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400" kern="0" spc="15" dirty="0" err="1">
                <a:solidFill>
                  <a:srgbClr val="111111"/>
                </a:solidFill>
                <a:latin typeface="Batang"/>
                <a:ea typeface="Batang"/>
              </a:rPr>
              <a:t>현장의</a:t>
            </a:r>
            <a:r>
              <a:rPr sz="1400" kern="0" spc="15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400" kern="0" spc="15" dirty="0" err="1">
                <a:solidFill>
                  <a:srgbClr val="111111"/>
                </a:solidFill>
                <a:latin typeface="Batang"/>
                <a:ea typeface="Batang"/>
              </a:rPr>
              <a:t>제약</a:t>
            </a:r>
            <a:endParaRPr sz="1400" kern="0" spc="15" dirty="0">
              <a:solidFill>
                <a:srgbClr val="111111"/>
              </a:solidFill>
              <a:latin typeface="Batang"/>
              <a:ea typeface="Batang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32500" y="1874519"/>
            <a:ext cx="1188720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400" kern="0" spc="15" dirty="0" err="1">
                <a:solidFill>
                  <a:srgbClr val="FFFFFF"/>
                </a:solidFill>
                <a:latin typeface="Batang"/>
                <a:ea typeface="Batang"/>
              </a:rPr>
              <a:t>해결책</a:t>
            </a:r>
            <a:endParaRPr sz="1400" kern="0" spc="15" dirty="0">
              <a:solidFill>
                <a:srgbClr val="FFFFFF"/>
              </a:solidFill>
              <a:latin typeface="Batang"/>
              <a:ea typeface="Batang"/>
            </a:endParaRPr>
          </a:p>
        </p:txBody>
      </p:sp>
      <p:sp>
        <p:nvSpPr>
          <p:cNvPr id="110" name="Constraint Card"/>
          <p:cNvSpPr/>
          <p:nvPr/>
        </p:nvSpPr>
        <p:spPr>
          <a:xfrm>
            <a:off x="825500" y="2349500"/>
            <a:ext cx="4127500" cy="3225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1" name="Constraint Text"/>
          <p:cNvSpPr txBox="1"/>
          <p:nvPr/>
        </p:nvSpPr>
        <p:spPr>
          <a:xfrm>
            <a:off x="1054100" y="2578100"/>
            <a:ext cx="3670300" cy="276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182880" indent="-182880" algn="l">
              <a:lnSpc>
                <a:spcPct val="110000"/>
              </a:lnSpc>
              <a:spcAft>
                <a:spcPts val="1200"/>
              </a:spcAft>
              <a:buFont typeface="Arial"/>
              <a:buChar char="▪"/>
            </a:pPr>
            <a:r>
              <a:rPr lang="ko-KR" sz="1250" b="0" kern="0" spc="10" dirty="0">
                <a:solidFill>
                  <a:srgbClr val="111111"/>
                </a:solidFill>
                <a:latin typeface="Batang"/>
                <a:ea typeface="Batang"/>
              </a:rPr>
              <a:t>산업용 AP: 채널 점유율 · 신호 세기 등 단일 지표 규칙 기반 제어</a:t>
            </a:r>
          </a:p>
          <a:p>
            <a:pPr marL="182880" indent="-182880" algn="l">
              <a:lnSpc>
                <a:spcPct val="110000"/>
              </a:lnSpc>
              <a:spcAft>
                <a:spcPts val="1200"/>
              </a:spcAft>
              <a:buFont typeface="Arial"/>
              <a:buChar char="▪"/>
            </a:pPr>
            <a:r>
              <a:rPr lang="ko-KR" sz="1250" b="0" kern="0" spc="10" dirty="0">
                <a:solidFill>
                  <a:srgbClr val="111111"/>
                </a:solidFill>
                <a:latin typeface="Batang"/>
                <a:ea typeface="Batang"/>
              </a:rPr>
              <a:t>시계열적 트래픽 변화 미반영</a:t>
            </a:r>
          </a:p>
          <a:p>
            <a:pPr marL="182880" indent="-182880" algn="l">
              <a:lnSpc>
                <a:spcPct val="110000"/>
              </a:lnSpc>
              <a:spcAft>
                <a:spcPts val="1200"/>
              </a:spcAft>
              <a:buFont typeface="Arial"/>
              <a:buChar char="▪"/>
            </a:pPr>
            <a:r>
              <a:rPr lang="ko-KR" sz="1250" b="0" kern="0" spc="10" dirty="0">
                <a:solidFill>
                  <a:srgbClr val="111111"/>
                </a:solidFill>
                <a:latin typeface="Batang"/>
                <a:ea typeface="Batang"/>
              </a:rPr>
              <a:t>중소 제조 시설망: 비용 · 보안 · 구조상 클라우드 AI 도입 곤란</a:t>
            </a:r>
          </a:p>
        </p:txBody>
      </p:sp>
      <p:sp>
        <p:nvSpPr>
          <p:cNvPr id="112" name="Flow Arrow"/>
          <p:cNvSpPr/>
          <p:nvPr/>
        </p:nvSpPr>
        <p:spPr>
          <a:xfrm>
            <a:off x="5130800" y="3708400"/>
            <a:ext cx="736600" cy="508000"/>
          </a:xfrm>
          <a:prstGeom prst="rightArrow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3" name="Sol Card 1"/>
          <p:cNvSpPr/>
          <p:nvPr/>
        </p:nvSpPr>
        <p:spPr>
          <a:xfrm>
            <a:off x="6032500" y="2349500"/>
            <a:ext cx="5295900" cy="10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14" name="Sol Accent 1"/>
          <p:cNvSpPr/>
          <p:nvPr/>
        </p:nvSpPr>
        <p:spPr>
          <a:xfrm>
            <a:off x="6032500" y="2349500"/>
            <a:ext cx="38100" cy="1016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5" name="Sol Text 1"/>
          <p:cNvSpPr txBox="1"/>
          <p:nvPr/>
        </p:nvSpPr>
        <p:spPr>
          <a:xfrm>
            <a:off x="6858000" y="2501900"/>
            <a:ext cx="43180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ko-KR" sz="1250" b="1" kern="0" spc="10" dirty="0">
                <a:solidFill>
                  <a:srgbClr val="111111"/>
                </a:solidFill>
                <a:latin typeface="Batang"/>
                <a:ea typeface="Batang"/>
              </a:rPr>
              <a:t>Early Exit LSTM</a:t>
            </a:r>
          </a:p>
          <a:p>
            <a:pPr algn="l">
              <a:lnSpc>
                <a:spcPct val="105000"/>
              </a:lnSpc>
            </a:pPr>
            <a:r>
              <a:rPr lang="ko-KR" sz="1200" b="0" kern="0" spc="10" dirty="0">
                <a:solidFill>
                  <a:srgbClr val="555555"/>
                </a:solidFill>
                <a:latin typeface="Batang"/>
                <a:ea typeface="Batang"/>
              </a:rPr>
              <a:t>무선 트래픽 혼잡 분류 — 새 도메인 적용</a:t>
            </a:r>
          </a:p>
        </p:txBody>
      </p:sp>
      <p:sp>
        <p:nvSpPr>
          <p:cNvPr id="116" name="Sol Card 2"/>
          <p:cNvSpPr/>
          <p:nvPr/>
        </p:nvSpPr>
        <p:spPr>
          <a:xfrm>
            <a:off x="6032500" y="3454400"/>
            <a:ext cx="5295900" cy="10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17" name="Sol Accent 2"/>
          <p:cNvSpPr/>
          <p:nvPr/>
        </p:nvSpPr>
        <p:spPr>
          <a:xfrm>
            <a:off x="6032500" y="3454400"/>
            <a:ext cx="38100" cy="1016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8" name="Sol Text 2"/>
          <p:cNvSpPr txBox="1"/>
          <p:nvPr/>
        </p:nvSpPr>
        <p:spPr>
          <a:xfrm>
            <a:off x="6858000" y="3606800"/>
            <a:ext cx="43180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ko-KR" sz="1250" b="1" kern="0" spc="10" dirty="0">
                <a:solidFill>
                  <a:srgbClr val="111111"/>
                </a:solidFill>
                <a:latin typeface="Batang"/>
                <a:ea typeface="Batang"/>
              </a:rPr>
              <a:t>트래픽 변동률 기반 동적 threshold</a:t>
            </a:r>
          </a:p>
          <a:p>
            <a:pPr algn="l">
              <a:lnSpc>
                <a:spcPct val="105000"/>
              </a:lnSpc>
            </a:pPr>
            <a:r>
              <a:rPr lang="ko-KR" sz="1200" b="0" kern="0" spc="10" dirty="0">
                <a:solidFill>
                  <a:srgbClr val="555555"/>
                </a:solidFill>
                <a:latin typeface="Batang"/>
                <a:ea typeface="Batang"/>
              </a:rPr>
              <a:t>고정값이 아닌 상황 적응형 조기 종료</a:t>
            </a:r>
          </a:p>
        </p:txBody>
      </p:sp>
      <p:sp>
        <p:nvSpPr>
          <p:cNvPr id="119" name="Sol Card 3"/>
          <p:cNvSpPr/>
          <p:nvPr/>
        </p:nvSpPr>
        <p:spPr>
          <a:xfrm>
            <a:off x="6032500" y="4559300"/>
            <a:ext cx="5295900" cy="10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20" name="Sol Accent 3"/>
          <p:cNvSpPr/>
          <p:nvPr/>
        </p:nvSpPr>
        <p:spPr>
          <a:xfrm>
            <a:off x="6032500" y="4559300"/>
            <a:ext cx="38100" cy="1016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21" name="Sol Text 3"/>
          <p:cNvSpPr txBox="1"/>
          <p:nvPr/>
        </p:nvSpPr>
        <p:spPr>
          <a:xfrm>
            <a:off x="6858000" y="4711700"/>
            <a:ext cx="43180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ko-KR" sz="1250" b="1" kern="0" spc="10" dirty="0">
                <a:solidFill>
                  <a:srgbClr val="111111"/>
                </a:solidFill>
                <a:latin typeface="Batang"/>
                <a:ea typeface="Batang"/>
              </a:rPr>
              <a:t>ONNX Runtime + Raspberry Pi</a:t>
            </a:r>
          </a:p>
          <a:p>
            <a:pPr algn="l">
              <a:lnSpc>
                <a:spcPct val="105000"/>
              </a:lnSpc>
            </a:pPr>
            <a:r>
              <a:rPr lang="ko-KR" sz="1200" b="0" kern="0" spc="10" dirty="0">
                <a:solidFill>
                  <a:srgbClr val="555555"/>
                </a:solidFill>
                <a:latin typeface="Batang"/>
                <a:ea typeface="Batang"/>
              </a:rPr>
              <a:t>외부 서버 없이 엣지 단독 혼잡 감지 · 채널 전환 방향 제시</a:t>
            </a:r>
          </a:p>
        </p:txBody>
      </p:sp>
      <p:pic>
        <p:nvPicPr>
          <p:cNvPr id="122" name="Graphic 122" descr="무선 네트워크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3800" y="2679700"/>
            <a:ext cx="355600" cy="355600"/>
          </a:xfrm>
          <a:prstGeom prst="rect">
            <a:avLst/>
          </a:prstGeom>
        </p:spPr>
      </p:pic>
      <p:pic>
        <p:nvPicPr>
          <p:cNvPr id="123" name="Graphic 123" descr="동적 threshold 게이지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3800" y="3784600"/>
            <a:ext cx="355600" cy="355600"/>
          </a:xfrm>
          <a:prstGeom prst="rect">
            <a:avLst/>
          </a:prstGeom>
        </p:spPr>
      </p:pic>
      <p:pic>
        <p:nvPicPr>
          <p:cNvPr id="124" name="Graphic 124" descr="엣지 프로세서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73800" y="48895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83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CBA1955-926E-CF71-E39E-EFFF624A80DA}"/>
              </a:ext>
            </a:extLst>
          </p:cNvPr>
          <p:cNvSpPr/>
          <p:nvPr/>
        </p:nvSpPr>
        <p:spPr>
          <a:xfrm>
            <a:off x="548640" y="2010335"/>
            <a:ext cx="10935148" cy="3845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목표</a:t>
            </a:r>
            <a:r>
              <a:rPr lang="en-US" sz="29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: </a:t>
            </a:r>
            <a:r>
              <a:rPr lang="en-US" sz="2900" b="1" dirty="0" err="1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시뮬레이터</a:t>
            </a:r>
            <a:r>
              <a:rPr lang="en-US" sz="29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 검증에서 </a:t>
            </a:r>
            <a:r>
              <a:rPr lang="en-US" sz="2900" b="1" dirty="0" err="1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실환경</a:t>
            </a:r>
            <a:r>
              <a:rPr lang="en-US" sz="29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 </a:t>
            </a:r>
            <a:r>
              <a:rPr lang="en-US" sz="2900" b="1" dirty="0" err="1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검증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7</a:t>
            </a:r>
            <a:endParaRPr lang="en-US" sz="10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E79AFFF-A37C-3FF3-BDE3-DFC1173D4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482" y="236662"/>
            <a:ext cx="965452" cy="96393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22960" y="2377440"/>
            <a:ext cx="1828800" cy="310896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200" b="1" kern="0" spc="15">
                <a:solidFill>
                  <a:srgbClr val="111111"/>
                </a:solidFill>
                <a:latin typeface="Batang"/>
                <a:ea typeface="Batang"/>
              </a:rPr>
              <a:t>1학기 (완료)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2500" y="2377440"/>
            <a:ext cx="3566160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200" b="1" kern="0" spc="15">
                <a:solidFill>
                  <a:srgbClr val="FFFFFF"/>
                </a:solidFill>
                <a:latin typeface="Batang"/>
                <a:ea typeface="Batang"/>
              </a:rPr>
              <a:t>2학기 — 5가지 종합 평가</a:t>
            </a:r>
          </a:p>
        </p:txBody>
      </p:sp>
      <p:sp>
        <p:nvSpPr>
          <p:cNvPr id="110" name="Subtitle Band"/>
          <p:cNvSpPr/>
          <p:nvPr/>
        </p:nvSpPr>
        <p:spPr>
          <a:xfrm>
            <a:off x="825500" y="1422400"/>
            <a:ext cx="10693400" cy="381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1" name="Subtitle Accent"/>
          <p:cNvSpPr/>
          <p:nvPr/>
        </p:nvSpPr>
        <p:spPr>
          <a:xfrm>
            <a:off x="825500" y="1422400"/>
            <a:ext cx="38100" cy="381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Box 13"/>
          <p:cNvSpPr txBox="1"/>
          <p:nvPr/>
        </p:nvSpPr>
        <p:spPr>
          <a:xfrm>
            <a:off x="1054100" y="1535921"/>
            <a:ext cx="106984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기존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지식의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새로운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적용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· Early Exit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구조를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무선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트래픽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혼잡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분류에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적용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,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동적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threshold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설계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제안</a:t>
            </a:r>
            <a:endParaRPr sz="1150" b="0" kern="0" spc="10" dirty="0">
              <a:solidFill>
                <a:srgbClr val="555555"/>
              </a:solidFill>
              <a:latin typeface="Batang"/>
              <a:ea typeface="Batang"/>
            </a:endParaRPr>
          </a:p>
        </p:txBody>
      </p:sp>
      <p:sp>
        <p:nvSpPr>
          <p:cNvPr id="112" name="Done Card"/>
          <p:cNvSpPr/>
          <p:nvPr/>
        </p:nvSpPr>
        <p:spPr>
          <a:xfrm>
            <a:off x="825500" y="2857500"/>
            <a:ext cx="4318000" cy="279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3" name="Done Text"/>
          <p:cNvSpPr txBox="1"/>
          <p:nvPr/>
        </p:nvSpPr>
        <p:spPr>
          <a:xfrm>
            <a:off x="1079500" y="3048000"/>
            <a:ext cx="3835400" cy="2413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228600" indent="-228600" algn="l">
              <a:lnSpc>
                <a:spcPct val="110000"/>
              </a:lnSpc>
              <a:spcAft>
                <a:spcPts val="1100"/>
              </a:spcAft>
              <a:buFont typeface="Arial"/>
              <a:buChar char="✓"/>
            </a:pPr>
            <a:r>
              <a:rPr lang="ko-KR" sz="1250" b="0" kern="0" spc="10" dirty="0">
                <a:solidFill>
                  <a:srgbClr val="111111"/>
                </a:solidFill>
                <a:latin typeface="Batang"/>
                <a:ea typeface="Batang"/>
              </a:rPr>
              <a:t>시뮬레이터 기반 실험 환경 구축</a:t>
            </a:r>
          </a:p>
          <a:p>
            <a:pPr marL="228600" indent="-228600" algn="l">
              <a:lnSpc>
                <a:spcPct val="110000"/>
              </a:lnSpc>
              <a:spcAft>
                <a:spcPts val="1100"/>
              </a:spcAft>
              <a:buFont typeface="Arial"/>
              <a:buChar char="✓"/>
            </a:pPr>
            <a:r>
              <a:rPr lang="ko-KR" sz="1250" b="0" kern="0" spc="10" dirty="0">
                <a:solidFill>
                  <a:srgbClr val="111111"/>
                </a:solidFill>
                <a:latin typeface="Batang"/>
                <a:ea typeface="Batang"/>
              </a:rPr>
              <a:t>Early Exit LSTM 혼잡 분류 성능 검증</a:t>
            </a:r>
          </a:p>
          <a:p>
            <a:pPr marL="228600" indent="-228600" algn="l">
              <a:lnSpc>
                <a:spcPct val="110000"/>
              </a:lnSpc>
              <a:spcAft>
                <a:spcPts val="1100"/>
              </a:spcAft>
              <a:buFont typeface="Arial"/>
              <a:buChar char="✓"/>
            </a:pPr>
            <a:r>
              <a:rPr lang="ko-KR" sz="1250" b="0" kern="0" spc="10" dirty="0">
                <a:solidFill>
                  <a:srgbClr val="111111"/>
                </a:solidFill>
                <a:latin typeface="Batang"/>
                <a:ea typeface="Batang"/>
              </a:rPr>
              <a:t>4개 방식 비교 실험 · INT8 / ONNX 경량화</a:t>
            </a:r>
          </a:p>
          <a:p>
            <a:pPr marL="228600" indent="-228600" algn="l">
              <a:lnSpc>
                <a:spcPct val="110000"/>
              </a:lnSpc>
              <a:spcAft>
                <a:spcPts val="1100"/>
              </a:spcAft>
              <a:buFont typeface="Arial"/>
              <a:buChar char="✓"/>
            </a:pPr>
            <a:r>
              <a:rPr lang="ko-KR" sz="1250" b="0" kern="0" spc="10" dirty="0">
                <a:solidFill>
                  <a:srgbClr val="111111"/>
                </a:solidFill>
                <a:latin typeface="Batang"/>
                <a:ea typeface="Batang"/>
              </a:rPr>
              <a:t>Raspberry Pi 엣지 배포 가능성 확인</a:t>
            </a:r>
          </a:p>
        </p:txBody>
      </p:sp>
      <p:sp>
        <p:nvSpPr>
          <p:cNvPr id="114" name="Flow Arrow"/>
          <p:cNvSpPr/>
          <p:nvPr/>
        </p:nvSpPr>
        <p:spPr>
          <a:xfrm>
            <a:off x="5232400" y="4025900"/>
            <a:ext cx="635000" cy="457200"/>
          </a:xfrm>
          <a:prstGeom prst="rightArrow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5" name="Eval Card 1"/>
          <p:cNvSpPr/>
          <p:nvPr/>
        </p:nvSpPr>
        <p:spPr>
          <a:xfrm>
            <a:off x="6032500" y="2857500"/>
            <a:ext cx="5295900" cy="5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16" name="Eval Num 1"/>
          <p:cNvSpPr/>
          <p:nvPr/>
        </p:nvSpPr>
        <p:spPr>
          <a:xfrm>
            <a:off x="6210300" y="2971800"/>
            <a:ext cx="279400" cy="279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200" b="1" kern="0" spc="10" dirty="0">
                <a:solidFill>
                  <a:srgbClr val="FFFFFF"/>
                </a:solidFill>
                <a:latin typeface="Batang"/>
                <a:ea typeface="Batang"/>
              </a:rPr>
              <a:t>1</a:t>
            </a:r>
          </a:p>
        </p:txBody>
      </p:sp>
      <p:sp>
        <p:nvSpPr>
          <p:cNvPr id="117" name="Eval Text 1"/>
          <p:cNvSpPr txBox="1"/>
          <p:nvPr/>
        </p:nvSpPr>
        <p:spPr>
          <a:xfrm>
            <a:off x="6667500" y="2857500"/>
            <a:ext cx="447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ko-KR" sz="1250" b="0" kern="0" spc="10" dirty="0">
                <a:solidFill>
                  <a:srgbClr val="111111"/>
                </a:solidFill>
                <a:latin typeface="Batang"/>
                <a:ea typeface="Batang"/>
              </a:rPr>
              <a:t>Pi 기반 실시간 추론 성능</a:t>
            </a:r>
          </a:p>
        </p:txBody>
      </p:sp>
      <p:sp>
        <p:nvSpPr>
          <p:cNvPr id="118" name="Eval Card 2"/>
          <p:cNvSpPr/>
          <p:nvPr/>
        </p:nvSpPr>
        <p:spPr>
          <a:xfrm>
            <a:off x="6032500" y="3441700"/>
            <a:ext cx="5295900" cy="5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19" name="Eval Num 2"/>
          <p:cNvSpPr/>
          <p:nvPr/>
        </p:nvSpPr>
        <p:spPr>
          <a:xfrm>
            <a:off x="6210300" y="3556000"/>
            <a:ext cx="279400" cy="279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200" b="1" kern="0" spc="10" dirty="0">
                <a:solidFill>
                  <a:srgbClr val="FFFFFF"/>
                </a:solidFill>
                <a:latin typeface="Batang"/>
                <a:ea typeface="Batang"/>
              </a:rPr>
              <a:t>2</a:t>
            </a:r>
          </a:p>
        </p:txBody>
      </p:sp>
      <p:sp>
        <p:nvSpPr>
          <p:cNvPr id="120" name="Eval Text 2"/>
          <p:cNvSpPr txBox="1"/>
          <p:nvPr/>
        </p:nvSpPr>
        <p:spPr>
          <a:xfrm>
            <a:off x="6667500" y="3441700"/>
            <a:ext cx="447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ko-KR" sz="1250" b="0" kern="0" spc="10" dirty="0">
                <a:solidFill>
                  <a:srgbClr val="111111"/>
                </a:solidFill>
                <a:latin typeface="Batang"/>
                <a:ea typeface="Batang"/>
              </a:rPr>
              <a:t>실제 트래픽 데이터 분류 정확도</a:t>
            </a:r>
          </a:p>
        </p:txBody>
      </p:sp>
      <p:sp>
        <p:nvSpPr>
          <p:cNvPr id="121" name="Eval Card 3"/>
          <p:cNvSpPr/>
          <p:nvPr/>
        </p:nvSpPr>
        <p:spPr>
          <a:xfrm>
            <a:off x="6032500" y="4025900"/>
            <a:ext cx="5295900" cy="5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22" name="Eval Num 3"/>
          <p:cNvSpPr/>
          <p:nvPr/>
        </p:nvSpPr>
        <p:spPr>
          <a:xfrm>
            <a:off x="6210300" y="4140200"/>
            <a:ext cx="279400" cy="279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200" b="1" kern="0" spc="10" dirty="0">
                <a:solidFill>
                  <a:srgbClr val="FFFFFF"/>
                </a:solidFill>
                <a:latin typeface="Batang"/>
                <a:ea typeface="Batang"/>
              </a:rPr>
              <a:t>3</a:t>
            </a:r>
          </a:p>
        </p:txBody>
      </p:sp>
      <p:sp>
        <p:nvSpPr>
          <p:cNvPr id="123" name="Eval Text 3"/>
          <p:cNvSpPr txBox="1"/>
          <p:nvPr/>
        </p:nvSpPr>
        <p:spPr>
          <a:xfrm>
            <a:off x="6667500" y="4025900"/>
            <a:ext cx="447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ko-KR" sz="1250" b="0" kern="0" spc="10" dirty="0">
                <a:solidFill>
                  <a:srgbClr val="111111"/>
                </a:solidFill>
                <a:latin typeface="Batang"/>
                <a:ea typeface="Batang"/>
              </a:rPr>
              <a:t>동적 threshold 효과</a:t>
            </a:r>
          </a:p>
        </p:txBody>
      </p:sp>
      <p:sp>
        <p:nvSpPr>
          <p:cNvPr id="124" name="Eval Card 4"/>
          <p:cNvSpPr/>
          <p:nvPr/>
        </p:nvSpPr>
        <p:spPr>
          <a:xfrm>
            <a:off x="6032500" y="4610100"/>
            <a:ext cx="5295900" cy="5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25" name="Eval Num 4"/>
          <p:cNvSpPr/>
          <p:nvPr/>
        </p:nvSpPr>
        <p:spPr>
          <a:xfrm>
            <a:off x="6210300" y="4724400"/>
            <a:ext cx="279400" cy="279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200" b="1" kern="0" spc="10" dirty="0">
                <a:solidFill>
                  <a:srgbClr val="FFFFFF"/>
                </a:solidFill>
                <a:latin typeface="Batang"/>
                <a:ea typeface="Batang"/>
              </a:rPr>
              <a:t>4</a:t>
            </a:r>
          </a:p>
        </p:txBody>
      </p:sp>
      <p:sp>
        <p:nvSpPr>
          <p:cNvPr id="126" name="Eval Text 4"/>
          <p:cNvSpPr txBox="1"/>
          <p:nvPr/>
        </p:nvSpPr>
        <p:spPr>
          <a:xfrm>
            <a:off x="6667500" y="4610100"/>
            <a:ext cx="447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ko-KR" sz="1250" b="0" kern="0" spc="10" dirty="0">
                <a:solidFill>
                  <a:srgbClr val="111111"/>
                </a:solidFill>
                <a:latin typeface="Batang"/>
                <a:ea typeface="Batang"/>
              </a:rPr>
              <a:t>비교 모델 대비 연산량 절감</a:t>
            </a:r>
          </a:p>
        </p:txBody>
      </p:sp>
      <p:sp>
        <p:nvSpPr>
          <p:cNvPr id="127" name="Eval Card 5"/>
          <p:cNvSpPr/>
          <p:nvPr/>
        </p:nvSpPr>
        <p:spPr>
          <a:xfrm>
            <a:off x="6032500" y="5194300"/>
            <a:ext cx="5295900" cy="5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28" name="Eval Num 5"/>
          <p:cNvSpPr/>
          <p:nvPr/>
        </p:nvSpPr>
        <p:spPr>
          <a:xfrm>
            <a:off x="6210300" y="5308600"/>
            <a:ext cx="279400" cy="279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200" b="1" kern="0" spc="10" dirty="0">
                <a:solidFill>
                  <a:srgbClr val="FFFFFF"/>
                </a:solidFill>
                <a:latin typeface="Batang"/>
                <a:ea typeface="Batang"/>
              </a:rPr>
              <a:t>5</a:t>
            </a:r>
          </a:p>
        </p:txBody>
      </p:sp>
      <p:sp>
        <p:nvSpPr>
          <p:cNvPr id="129" name="Eval Text 5"/>
          <p:cNvSpPr txBox="1"/>
          <p:nvPr/>
        </p:nvSpPr>
        <p:spPr>
          <a:xfrm>
            <a:off x="6667500" y="5194300"/>
            <a:ext cx="447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ko-KR" sz="1250" b="0" kern="0" spc="10" dirty="0">
                <a:solidFill>
                  <a:srgbClr val="111111"/>
                </a:solidFill>
                <a:latin typeface="Batang"/>
                <a:ea typeface="Batang"/>
              </a:rPr>
              <a:t>OpenWrt 기반 실환경 시연 가능성</a:t>
            </a:r>
          </a:p>
        </p:txBody>
      </p:sp>
    </p:spTree>
    <p:extLst>
      <p:ext uri="{BB962C8B-B14F-4D97-AF65-F5344CB8AC3E}">
        <p14:creationId xmlns:p14="http://schemas.microsoft.com/office/powerpoint/2010/main" val="3060471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2230B91-3B9A-8A40-42B2-1ADD3A0D9A6E}"/>
              </a:ext>
            </a:extLst>
          </p:cNvPr>
          <p:cNvSpPr/>
          <p:nvPr/>
        </p:nvSpPr>
        <p:spPr>
          <a:xfrm>
            <a:off x="548640" y="1586753"/>
            <a:ext cx="10935148" cy="42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1학기 달성 현황과 </a:t>
            </a:r>
            <a:r>
              <a:rPr lang="en-US" sz="2900" b="1" dirty="0" err="1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남은</a:t>
            </a:r>
            <a:r>
              <a:rPr lang="en-US" sz="29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 </a:t>
            </a:r>
            <a:r>
              <a:rPr lang="en-US" sz="2900" b="1" dirty="0" err="1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과제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96.9%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7249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혼잡 분류 정확도 (PER-001)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계획서 기재 · 1학기 비교 실험 기준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0.9ms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평균 추론 시간 (PER-002)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983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계획서 기재 · ONNX Runtime 기준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8</a:t>
            </a:r>
            <a:endParaRPr lang="en-US" sz="10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A694C70-F265-C9E9-B21C-296B4E8D3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482" y="236662"/>
            <a:ext cx="965452" cy="963934"/>
          </a:xfrm>
          <a:prstGeom prst="rect">
            <a:avLst/>
          </a:prstGeom>
        </p:spPr>
      </p:pic>
      <p:cxnSp>
        <p:nvCxnSpPr>
          <p:cNvPr id="20" name="Connector 19"/>
          <p:cNvCxnSpPr/>
          <p:nvPr/>
        </p:nvCxnSpPr>
        <p:spPr>
          <a:xfrm>
            <a:off x="4343400" y="1828800"/>
            <a:ext cx="0" cy="384048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782312" y="2171700"/>
            <a:ext cx="6766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1" kern="0" spc="10" dirty="0" err="1">
                <a:solidFill>
                  <a:srgbClr val="111111"/>
                </a:solidFill>
                <a:latin typeface="Batang"/>
                <a:ea typeface="Batang"/>
              </a:rPr>
              <a:t>요구사항</a:t>
            </a:r>
            <a:r>
              <a:rPr sz="1250" b="1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50" b="1" kern="0" spc="10" dirty="0" err="1">
                <a:solidFill>
                  <a:srgbClr val="111111"/>
                </a:solidFill>
                <a:latin typeface="Batang"/>
                <a:ea typeface="Batang"/>
              </a:rPr>
              <a:t>달성</a:t>
            </a:r>
            <a:r>
              <a:rPr sz="1250" b="1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50" b="1" kern="0" spc="10" dirty="0" err="1">
                <a:solidFill>
                  <a:srgbClr val="111111"/>
                </a:solidFill>
                <a:latin typeface="Batang"/>
                <a:ea typeface="Batang"/>
              </a:rPr>
              <a:t>요약</a:t>
            </a:r>
            <a:r>
              <a:rPr sz="1250" b="1" kern="0" spc="10" dirty="0">
                <a:solidFill>
                  <a:srgbClr val="111111"/>
                </a:solidFill>
                <a:latin typeface="Batang"/>
                <a:ea typeface="Batang"/>
              </a:rPr>
              <a:t> (1학기 </a:t>
            </a:r>
            <a:r>
              <a:rPr sz="1250" b="1" kern="0" spc="10" dirty="0" err="1">
                <a:solidFill>
                  <a:srgbClr val="111111"/>
                </a:solidFill>
                <a:latin typeface="Batang"/>
                <a:ea typeface="Batang"/>
              </a:rPr>
              <a:t>종료</a:t>
            </a:r>
            <a:r>
              <a:rPr sz="1250" b="1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50" b="1" kern="0" spc="10" dirty="0" err="1">
                <a:solidFill>
                  <a:srgbClr val="111111"/>
                </a:solidFill>
                <a:latin typeface="Batang"/>
                <a:ea typeface="Batang"/>
              </a:rPr>
              <a:t>시점</a:t>
            </a:r>
            <a:r>
              <a:rPr sz="1250" b="1" kern="0" spc="10" dirty="0">
                <a:solidFill>
                  <a:srgbClr val="111111"/>
                </a:solidFill>
                <a:latin typeface="Batang"/>
                <a:ea typeface="Batang"/>
              </a:rPr>
              <a:t>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장비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·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기능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·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성능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·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데이터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·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테스트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등 30여 개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요구사항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대부분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완료</a:t>
            </a:r>
            <a:endParaRPr sz="1200" b="0" kern="0" spc="10" dirty="0">
              <a:solidFill>
                <a:srgbClr val="111111"/>
              </a:solidFill>
              <a:latin typeface="Batang"/>
              <a:ea typeface="Batang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부분</a:t>
            </a:r>
            <a:r>
              <a:rPr sz="120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2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완료</a:t>
            </a:r>
            <a:r>
              <a:rPr sz="1200" b="0" kern="0" spc="10" dirty="0">
                <a:solidFill>
                  <a:srgbClr val="555555"/>
                </a:solidFill>
                <a:latin typeface="Batang"/>
                <a:ea typeface="Batang"/>
              </a:rPr>
              <a:t> · </a:t>
            </a:r>
            <a:r>
              <a:rPr sz="12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진행</a:t>
            </a:r>
            <a:r>
              <a:rPr sz="1200" b="0" kern="0" spc="10" dirty="0">
                <a:solidFill>
                  <a:srgbClr val="555555"/>
                </a:solidFill>
                <a:latin typeface="Batang"/>
                <a:ea typeface="Batang"/>
              </a:rPr>
              <a:t> 중 </a:t>
            </a:r>
            <a:r>
              <a:rPr sz="12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항목</a:t>
            </a:r>
            <a:r>
              <a:rPr sz="1200" b="0" kern="0" spc="10" dirty="0">
                <a:solidFill>
                  <a:srgbClr val="555555"/>
                </a:solidFill>
                <a:latin typeface="Batang"/>
                <a:ea typeface="Batang"/>
              </a:rPr>
              <a:t> = </a:t>
            </a:r>
            <a:r>
              <a:rPr sz="12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공통적으로</a:t>
            </a:r>
            <a:r>
              <a:rPr sz="1200" b="0" kern="0" spc="10" dirty="0">
                <a:solidFill>
                  <a:srgbClr val="555555"/>
                </a:solidFill>
                <a:latin typeface="Batang"/>
                <a:ea typeface="Batang"/>
              </a:rPr>
              <a:t> “</a:t>
            </a:r>
            <a:r>
              <a:rPr sz="12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실제</a:t>
            </a:r>
            <a:r>
              <a:rPr sz="120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2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환경</a:t>
            </a:r>
            <a:r>
              <a:rPr sz="1200" b="0" kern="0" spc="10" dirty="0">
                <a:solidFill>
                  <a:srgbClr val="555555"/>
                </a:solidFill>
                <a:latin typeface="Batang"/>
                <a:ea typeface="Batang"/>
              </a:rPr>
              <a:t>” </a:t>
            </a:r>
            <a:r>
              <a:rPr sz="12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관련</a:t>
            </a:r>
            <a:endParaRPr sz="1200" b="0" kern="0" spc="10" dirty="0">
              <a:solidFill>
                <a:srgbClr val="555555"/>
              </a:solidFill>
              <a:latin typeface="Batang"/>
              <a:ea typeface="Batang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754880" y="4069080"/>
            <a:ext cx="6766560" cy="11210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ko-KR" altLang="en-US" sz="1200" b="1" kern="0" spc="10">
                <a:solidFill>
                  <a:srgbClr val="111111"/>
                </a:solidFill>
                <a:latin typeface="Batang"/>
                <a:ea typeface="Batang"/>
              </a:rPr>
              <a:t>필요 사항</a:t>
            </a:r>
            <a:endParaRPr lang="en-US" sz="1150" b="0" kern="0" spc="10" dirty="0">
              <a:solidFill>
                <a:srgbClr val="555555"/>
              </a:solidFill>
              <a:latin typeface="Batang"/>
              <a:ea typeface="Batang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ECR-002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무선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AP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연동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 ·  SFR-001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실제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데이터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입력</a:t>
            </a:r>
            <a:endParaRPr sz="1150" b="0" kern="0" spc="10" dirty="0">
              <a:solidFill>
                <a:srgbClr val="555555"/>
              </a:solidFill>
              <a:latin typeface="Batang"/>
              <a:ea typeface="Batang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SFR-007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동적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임계값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 ·  SFR-009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채널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전환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명령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후보</a:t>
            </a:r>
            <a:endParaRPr sz="1150" b="0" kern="0" spc="10" dirty="0">
              <a:solidFill>
                <a:srgbClr val="555555"/>
              </a:solidFill>
              <a:latin typeface="Batang"/>
              <a:ea typeface="Batang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PER-003 · TER-004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엣지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실시간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추론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 ·  SIR-003 AP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제어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인터페이스</a:t>
            </a:r>
            <a:endParaRPr sz="1150" b="0" kern="0" spc="10" dirty="0">
              <a:solidFill>
                <a:srgbClr val="555555"/>
              </a:solidFill>
              <a:latin typeface="Batang"/>
              <a:ea typeface="Batang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QUR-002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확장성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 ·  COR-002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실시간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무선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제어</a:t>
            </a:r>
            <a:r>
              <a:rPr sz="115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15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제약</a:t>
            </a:r>
            <a:endParaRPr sz="1150" b="0" kern="0" spc="10" dirty="0">
              <a:solidFill>
                <a:srgbClr val="555555"/>
              </a:solidFill>
              <a:latin typeface="Batang"/>
              <a:ea typeface="Batang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822960" y="2615184"/>
            <a:ext cx="301752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2960" y="2615184"/>
            <a:ext cx="2923976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시스템 구성 — 3단계 파이프라인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9</a:t>
            </a:r>
            <a:endParaRPr lang="en-US" sz="10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4C67E17-2C0F-CA6E-35EB-9559142AE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482" y="236662"/>
            <a:ext cx="965452" cy="963934"/>
          </a:xfrm>
          <a:prstGeom prst="rect">
            <a:avLst/>
          </a:prstGeom>
        </p:spPr>
      </p:pic>
      <p:cxnSp>
        <p:nvCxnSpPr>
          <p:cNvPr id="20" name="Connector 19"/>
          <p:cNvCxnSpPr/>
          <p:nvPr/>
        </p:nvCxnSpPr>
        <p:spPr>
          <a:xfrm>
            <a:off x="804672" y="3180591"/>
            <a:ext cx="10698480" cy="0"/>
          </a:xfrm>
          <a:prstGeom prst="line">
            <a:avLst/>
          </a:prstGeom>
          <a:ln w="571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4672" y="3116583"/>
            <a:ext cx="0" cy="128016"/>
          </a:xfrm>
          <a:prstGeom prst="line">
            <a:avLst/>
          </a:prstGeom>
          <a:ln w="571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04672" y="2631951"/>
            <a:ext cx="1920240" cy="310896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100" b="1" kern="0" spc="15">
                <a:solidFill>
                  <a:srgbClr val="111111"/>
                </a:solidFill>
                <a:latin typeface="Batang"/>
                <a:ea typeface="Batang"/>
              </a:rPr>
              <a:t>1  트래픽 생성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436623"/>
            <a:ext cx="3246120" cy="624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kern="0" spc="10">
                <a:latin typeface="Batang"/>
                <a:ea typeface="Batang"/>
              </a:rPr>
              <a:t>시뮬레이터 + 실제 WiFi 수집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kern="0" spc="10">
                <a:latin typeface="Batang"/>
                <a:ea typeface="Batang"/>
              </a:rPr>
              <a:t>공장 운영 패턴 4종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kern="0" spc="10">
                <a:latin typeface="Batang"/>
                <a:ea typeface="Batang"/>
              </a:rPr>
              <a:t>일과 시작 · 긴급 증산 · 점심 재가동 · 불균형 부하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62272" y="3116583"/>
            <a:ext cx="0" cy="128016"/>
          </a:xfrm>
          <a:prstGeom prst="line">
            <a:avLst/>
          </a:prstGeom>
          <a:ln w="571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462272" y="2631951"/>
            <a:ext cx="1920240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100" b="1" kern="0" spc="15">
                <a:solidFill>
                  <a:srgbClr val="FFFFFF"/>
                </a:solidFill>
                <a:latin typeface="Batang"/>
                <a:ea typeface="Batang"/>
              </a:rPr>
              <a:t>2  딥러닝 예측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3436623"/>
            <a:ext cx="3246120" cy="624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kern="0" spc="10">
                <a:latin typeface="Batang"/>
                <a:ea typeface="Batang"/>
              </a:rPr>
              <a:t>Early Exit LSTM 혼잡 분류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kern="0" spc="10">
                <a:latin typeface="Batang"/>
                <a:ea typeface="Batang"/>
              </a:rPr>
              <a:t>혼잡 4단계 — 정상 / 경고 / 혼잡 / 심각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kern="0" spc="10">
                <a:latin typeface="Batang"/>
                <a:ea typeface="Batang"/>
              </a:rPr>
              <a:t>확실하면 중간 출구에서 조기 종료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119872" y="3116583"/>
            <a:ext cx="0" cy="128016"/>
          </a:xfrm>
          <a:prstGeom prst="line">
            <a:avLst/>
          </a:prstGeom>
          <a:ln w="571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119872" y="2631951"/>
            <a:ext cx="1920240" cy="310896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100" b="1" kern="0" spc="15">
                <a:solidFill>
                  <a:srgbClr val="111111"/>
                </a:solidFill>
                <a:latin typeface="Batang"/>
                <a:ea typeface="Batang"/>
              </a:rPr>
              <a:t>3  운용 방안 제시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2" y="3436623"/>
            <a:ext cx="3246120" cy="401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kern="0" spc="10">
                <a:latin typeface="Batang"/>
                <a:ea typeface="Batang"/>
              </a:rPr>
              <a:t>채널 유지 / 전환 권고 / 긴급 전환 권고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kern="0" spc="10">
                <a:latin typeface="Batang"/>
                <a:ea typeface="Batang"/>
              </a:rPr>
              <a:t>AP 채널 전환 명령 후보 생성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4672" y="5279273"/>
            <a:ext cx="10698480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04672" y="5599313"/>
            <a:ext cx="1508760" cy="292608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050" b="1" kern="0" spc="15">
                <a:solidFill>
                  <a:srgbClr val="111111"/>
                </a:solidFill>
                <a:latin typeface="Batang"/>
                <a:ea typeface="Batang"/>
              </a:rPr>
              <a:t>장비 · 도구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2032" y="5617601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kern="0" spc="10">
                <a:solidFill>
                  <a:srgbClr val="555555"/>
                </a:solidFill>
                <a:latin typeface="Batang"/>
                <a:ea typeface="Batang"/>
              </a:rPr>
              <a:t>GL.iNet GL-MT300N-V2 (AP) · iperf3 · Raspberry Pi 4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kern="0" spc="10">
                <a:solidFill>
                  <a:srgbClr val="888888"/>
                </a:solidFill>
                <a:latin typeface="Batang"/>
                <a:ea typeface="Batang"/>
              </a:rPr>
              <a:t>PyTorch 2.x · ONNX Runtime · INT8 Quantization · GitHub · TensorBoard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9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진행 계획</a:t>
            </a:r>
            <a:endParaRPr lang="en-US" sz="290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7</a:t>
            </a:r>
            <a:endParaRPr lang="en-US" sz="1000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E605BDF4-C3A6-9ED7-52B1-C391B44AD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482" y="236662"/>
            <a:ext cx="965452" cy="96393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61956" y="2006304"/>
            <a:ext cx="5029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kern="0" spc="10">
                <a:solidFill>
                  <a:srgbClr val="BBBBBB"/>
                </a:solidFill>
                <a:latin typeface="Batang"/>
                <a:ea typeface="Batang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13648" y="2123705"/>
            <a:ext cx="31089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kern="0" spc="10" dirty="0" err="1">
                <a:solidFill>
                  <a:srgbClr val="111111"/>
                </a:solidFill>
                <a:latin typeface="Batang"/>
                <a:ea typeface="Batang"/>
              </a:rPr>
              <a:t>유사</a:t>
            </a:r>
            <a:r>
              <a:rPr sz="1600" b="1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600" b="1" kern="0" spc="10" dirty="0" err="1">
                <a:solidFill>
                  <a:srgbClr val="111111"/>
                </a:solidFill>
                <a:latin typeface="Batang"/>
                <a:ea typeface="Batang"/>
              </a:rPr>
              <a:t>논문</a:t>
            </a:r>
            <a:r>
              <a:rPr sz="1600" b="1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600" b="1" kern="0" spc="10" dirty="0" err="1">
                <a:solidFill>
                  <a:srgbClr val="111111"/>
                </a:solidFill>
                <a:latin typeface="Batang"/>
                <a:ea typeface="Batang"/>
              </a:rPr>
              <a:t>비교</a:t>
            </a:r>
            <a:r>
              <a:rPr sz="1600" b="1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600" b="1" kern="0" spc="10" dirty="0" err="1">
                <a:solidFill>
                  <a:srgbClr val="111111"/>
                </a:solidFill>
                <a:latin typeface="Batang"/>
                <a:ea typeface="Batang"/>
              </a:rPr>
              <a:t>실험</a:t>
            </a:r>
            <a:endParaRPr sz="1600" b="1" kern="0" spc="10" dirty="0">
              <a:solidFill>
                <a:srgbClr val="111111"/>
              </a:solidFill>
              <a:latin typeface="Batang"/>
              <a:ea typeface="Batang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05488" y="2162401"/>
            <a:ext cx="6629400" cy="415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kern="0" spc="10" dirty="0" err="1">
                <a:latin typeface="Batang"/>
                <a:ea typeface="Batang"/>
              </a:rPr>
              <a:t>유사 논문 조사 · 연산량 절감 중심 비교 추가</a:t>
            </a:r>
            <a:endParaRPr sz="1400" b="0" kern="0" spc="10" dirty="0">
              <a:latin typeface="Batang"/>
              <a:ea typeface="Batang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1956" y="2810976"/>
            <a:ext cx="5029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kern="0" spc="10">
                <a:solidFill>
                  <a:srgbClr val="BBBBBB"/>
                </a:solidFill>
                <a:latin typeface="Batang"/>
                <a:ea typeface="Batang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13648" y="2903308"/>
            <a:ext cx="31089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kern="0" spc="10" dirty="0" err="1">
                <a:solidFill>
                  <a:srgbClr val="111111"/>
                </a:solidFill>
                <a:latin typeface="Batang"/>
                <a:ea typeface="Batang"/>
              </a:rPr>
              <a:t>실제</a:t>
            </a:r>
            <a:r>
              <a:rPr sz="1600" b="1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600" b="1" kern="0" spc="10" dirty="0" err="1">
                <a:solidFill>
                  <a:srgbClr val="111111"/>
                </a:solidFill>
                <a:latin typeface="Batang"/>
                <a:ea typeface="Batang"/>
              </a:rPr>
              <a:t>데이터</a:t>
            </a:r>
            <a:r>
              <a:rPr sz="1600" b="1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600" b="1" kern="0" spc="10" dirty="0" err="1">
                <a:solidFill>
                  <a:srgbClr val="111111"/>
                </a:solidFill>
                <a:latin typeface="Batang"/>
                <a:ea typeface="Batang"/>
              </a:rPr>
              <a:t>확보</a:t>
            </a:r>
            <a:endParaRPr sz="1600" b="1" kern="0" spc="10" dirty="0">
              <a:solidFill>
                <a:srgbClr val="111111"/>
              </a:solidFill>
              <a:latin typeface="Batang"/>
              <a:ea typeface="Batang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905488" y="2828998"/>
            <a:ext cx="6629400" cy="415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kern="0" spc="10" dirty="0" err="1">
                <a:latin typeface="Batang"/>
                <a:ea typeface="Batang"/>
              </a:rPr>
              <a:t>GL.iNet</a:t>
            </a:r>
            <a:r>
              <a:rPr sz="1400" b="0" kern="0" spc="10" dirty="0">
                <a:latin typeface="Batang"/>
                <a:ea typeface="Batang"/>
              </a:rPr>
              <a:t> AP </a:t>
            </a:r>
            <a:r>
              <a:rPr sz="1400" b="0" kern="0" spc="10" dirty="0" err="1">
                <a:latin typeface="Batang"/>
                <a:ea typeface="Batang"/>
              </a:rPr>
              <a:t>환경</a:t>
            </a:r>
            <a:r>
              <a:rPr sz="1400" b="0" kern="0" spc="10" dirty="0">
                <a:latin typeface="Batang"/>
                <a:ea typeface="Batang"/>
              </a:rPr>
              <a:t> </a:t>
            </a:r>
            <a:r>
              <a:rPr sz="1400" b="0" kern="0" spc="10" dirty="0" err="1">
                <a:latin typeface="Batang"/>
                <a:ea typeface="Batang"/>
              </a:rPr>
              <a:t>구축</a:t>
            </a:r>
            <a:r>
              <a:rPr sz="1400" b="0" kern="0" spc="10" dirty="0">
                <a:latin typeface="Batang"/>
                <a:ea typeface="Batang"/>
              </a:rPr>
              <a:t> </a:t>
            </a:r>
            <a:endParaRPr lang="en-US" sz="1400" b="0" kern="0" spc="10" dirty="0">
              <a:latin typeface="Batang"/>
              <a:ea typeface="Batang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kern="0" spc="10" dirty="0">
                <a:latin typeface="Batang"/>
                <a:ea typeface="Batang"/>
              </a:rPr>
              <a:t>→ </a:t>
            </a:r>
            <a:r>
              <a:rPr sz="1400" b="0" kern="0" spc="10" dirty="0" err="1">
                <a:latin typeface="Batang"/>
                <a:ea typeface="Batang"/>
              </a:rPr>
              <a:t>실제</a:t>
            </a:r>
            <a:r>
              <a:rPr sz="1400" b="0" kern="0" spc="10" dirty="0">
                <a:latin typeface="Batang"/>
                <a:ea typeface="Batang"/>
              </a:rPr>
              <a:t> </a:t>
            </a:r>
            <a:r>
              <a:rPr sz="1400" b="0" kern="0" spc="10" dirty="0" err="1">
                <a:latin typeface="Batang"/>
                <a:ea typeface="Batang"/>
              </a:rPr>
              <a:t>WiFi</a:t>
            </a:r>
            <a:r>
              <a:rPr sz="1400" b="0" kern="0" spc="10" dirty="0">
                <a:latin typeface="Batang"/>
                <a:ea typeface="Batang"/>
              </a:rPr>
              <a:t> </a:t>
            </a:r>
            <a:r>
              <a:rPr sz="1400" b="0" kern="0" spc="10" dirty="0" err="1">
                <a:latin typeface="Batang"/>
                <a:ea typeface="Batang"/>
              </a:rPr>
              <a:t>트래픽</a:t>
            </a:r>
            <a:r>
              <a:rPr sz="1400" b="0" kern="0" spc="10" dirty="0">
                <a:latin typeface="Batang"/>
                <a:ea typeface="Batang"/>
              </a:rPr>
              <a:t> </a:t>
            </a:r>
            <a:r>
              <a:rPr sz="1400" b="0" kern="0" spc="10" dirty="0" err="1">
                <a:latin typeface="Batang"/>
                <a:ea typeface="Batang"/>
              </a:rPr>
              <a:t>수집</a:t>
            </a:r>
            <a:r>
              <a:rPr sz="1400" b="0" kern="0" spc="10" dirty="0">
                <a:latin typeface="Batang"/>
                <a:ea typeface="Batang"/>
              </a:rPr>
              <a:t> · </a:t>
            </a:r>
            <a:r>
              <a:rPr sz="1400" b="0" kern="0" spc="10" dirty="0" err="1">
                <a:latin typeface="Batang"/>
                <a:ea typeface="Batang"/>
              </a:rPr>
              <a:t>전처리</a:t>
            </a:r>
            <a:r>
              <a:rPr sz="1400" b="0" kern="0" spc="10" dirty="0">
                <a:latin typeface="Batang"/>
                <a:ea typeface="Batang"/>
              </a:rPr>
              <a:t> · </a:t>
            </a:r>
            <a:r>
              <a:rPr sz="1400" b="0" kern="0" spc="10" dirty="0" err="1">
                <a:latin typeface="Batang"/>
                <a:ea typeface="Batang"/>
              </a:rPr>
              <a:t>시뮬레이터</a:t>
            </a:r>
            <a:r>
              <a:rPr sz="1400" b="0" kern="0" spc="10" dirty="0">
                <a:latin typeface="Batang"/>
                <a:ea typeface="Batang"/>
              </a:rPr>
              <a:t> </a:t>
            </a:r>
            <a:r>
              <a:rPr sz="1400" b="0" kern="0" spc="10" dirty="0" err="1">
                <a:latin typeface="Batang"/>
                <a:ea typeface="Batang"/>
              </a:rPr>
              <a:t>노이즈</a:t>
            </a:r>
            <a:r>
              <a:rPr sz="1400" b="0" kern="0" spc="10" dirty="0">
                <a:latin typeface="Batang"/>
                <a:ea typeface="Batang"/>
              </a:rPr>
              <a:t> </a:t>
            </a:r>
            <a:r>
              <a:rPr sz="1400" b="0" kern="0" spc="10" dirty="0" err="1">
                <a:latin typeface="Batang"/>
                <a:ea typeface="Batang"/>
              </a:rPr>
              <a:t>추가</a:t>
            </a:r>
            <a:endParaRPr sz="1400" b="0" kern="0" spc="10" dirty="0">
              <a:latin typeface="Batang"/>
              <a:ea typeface="Batang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61956" y="3615647"/>
            <a:ext cx="5029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kern="0" spc="10">
                <a:solidFill>
                  <a:srgbClr val="BBBBBB"/>
                </a:solidFill>
                <a:latin typeface="Batang"/>
                <a:ea typeface="Batang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13648" y="3731085"/>
            <a:ext cx="31089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kern="0" spc="10" dirty="0" err="1">
                <a:solidFill>
                  <a:srgbClr val="111111"/>
                </a:solidFill>
                <a:latin typeface="Batang"/>
                <a:ea typeface="Batang"/>
              </a:rPr>
              <a:t>동적</a:t>
            </a:r>
            <a:r>
              <a:rPr sz="1600" b="1" kern="0" spc="10" dirty="0">
                <a:solidFill>
                  <a:srgbClr val="111111"/>
                </a:solidFill>
                <a:latin typeface="Batang"/>
                <a:ea typeface="Batang"/>
              </a:rPr>
              <a:t> threshold </a:t>
            </a:r>
            <a:r>
              <a:rPr sz="1600" b="1" kern="0" spc="10" dirty="0" err="1">
                <a:solidFill>
                  <a:srgbClr val="111111"/>
                </a:solidFill>
                <a:latin typeface="Batang"/>
                <a:ea typeface="Batang"/>
              </a:rPr>
              <a:t>개선</a:t>
            </a:r>
            <a:endParaRPr sz="1600" b="1" kern="0" spc="10" dirty="0">
              <a:solidFill>
                <a:srgbClr val="111111"/>
              </a:solidFill>
              <a:latin typeface="Batang"/>
              <a:ea typeface="Batang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905488" y="3780249"/>
            <a:ext cx="6629400" cy="195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kern="0" spc="10" dirty="0">
                <a:latin typeface="Batang"/>
                <a:ea typeface="Batang"/>
              </a:rPr>
              <a:t>1학기 </a:t>
            </a:r>
            <a:r>
              <a:rPr sz="1400" b="0" kern="0" spc="10" dirty="0" err="1">
                <a:latin typeface="Batang"/>
                <a:ea typeface="Batang"/>
              </a:rPr>
              <a:t>오버헤드</a:t>
            </a:r>
            <a:r>
              <a:rPr sz="1400" b="0" kern="0" spc="10" dirty="0">
                <a:latin typeface="Batang"/>
                <a:ea typeface="Batang"/>
              </a:rPr>
              <a:t> </a:t>
            </a:r>
            <a:r>
              <a:rPr sz="1400" b="0" kern="0" spc="10" dirty="0" err="1">
                <a:latin typeface="Batang"/>
                <a:ea typeface="Batang"/>
              </a:rPr>
              <a:t>문제</a:t>
            </a:r>
            <a:r>
              <a:rPr sz="1400" b="0" kern="0" spc="10" dirty="0">
                <a:latin typeface="Batang"/>
                <a:ea typeface="Batang"/>
              </a:rPr>
              <a:t> → </a:t>
            </a:r>
            <a:r>
              <a:rPr sz="1400" b="0" kern="0" spc="10" dirty="0" err="1">
                <a:latin typeface="Batang"/>
                <a:ea typeface="Batang"/>
              </a:rPr>
              <a:t>경량화</a:t>
            </a:r>
            <a:r>
              <a:rPr sz="1400" b="0" kern="0" spc="10" dirty="0">
                <a:latin typeface="Batang"/>
                <a:ea typeface="Batang"/>
              </a:rPr>
              <a:t> </a:t>
            </a:r>
            <a:r>
              <a:rPr sz="1400" b="0" kern="0" spc="10" dirty="0" err="1">
                <a:latin typeface="Batang"/>
                <a:ea typeface="Batang"/>
              </a:rPr>
              <a:t>설계</a:t>
            </a:r>
            <a:r>
              <a:rPr sz="1400" b="0" kern="0" spc="10" dirty="0">
                <a:latin typeface="Batang"/>
                <a:ea typeface="Batang"/>
              </a:rPr>
              <a:t> </a:t>
            </a:r>
            <a:r>
              <a:rPr sz="1400" b="0" kern="0" spc="10" dirty="0" err="1">
                <a:latin typeface="Batang"/>
                <a:ea typeface="Batang"/>
              </a:rPr>
              <a:t>개선</a:t>
            </a:r>
            <a:r>
              <a:rPr sz="1400" b="0" kern="0" spc="10" dirty="0">
                <a:latin typeface="Batang"/>
                <a:ea typeface="Batang"/>
              </a:rPr>
              <a:t> 후 </a:t>
            </a:r>
            <a:r>
              <a:rPr sz="1400" b="0" kern="0" spc="10" dirty="0" err="1">
                <a:latin typeface="Batang"/>
                <a:ea typeface="Batang"/>
              </a:rPr>
              <a:t>재실험</a:t>
            </a:r>
            <a:endParaRPr sz="1400" b="0" kern="0" spc="10" dirty="0">
              <a:latin typeface="Batang"/>
              <a:ea typeface="Batang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61956" y="4420319"/>
            <a:ext cx="5029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kern="0" spc="10">
                <a:solidFill>
                  <a:srgbClr val="BBBBBB"/>
                </a:solidFill>
                <a:latin typeface="Batang"/>
                <a:ea typeface="Batang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13648" y="4524204"/>
            <a:ext cx="31089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kern="0" spc="10" dirty="0" err="1">
                <a:solidFill>
                  <a:srgbClr val="111111"/>
                </a:solidFill>
                <a:latin typeface="Batang"/>
                <a:ea typeface="Batang"/>
              </a:rPr>
              <a:t>실시간</a:t>
            </a:r>
            <a:r>
              <a:rPr sz="1600" b="1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600" b="1" kern="0" spc="10" dirty="0" err="1">
                <a:solidFill>
                  <a:srgbClr val="111111"/>
                </a:solidFill>
                <a:latin typeface="Batang"/>
                <a:ea typeface="Batang"/>
              </a:rPr>
              <a:t>추론</a:t>
            </a:r>
            <a:r>
              <a:rPr sz="1600" b="1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600" b="1" kern="0" spc="10" dirty="0" err="1">
                <a:solidFill>
                  <a:srgbClr val="111111"/>
                </a:solidFill>
                <a:latin typeface="Batang"/>
                <a:ea typeface="Batang"/>
              </a:rPr>
              <a:t>파이프라인</a:t>
            </a:r>
            <a:endParaRPr sz="1600" b="1" kern="0" spc="10" dirty="0">
              <a:solidFill>
                <a:srgbClr val="111111"/>
              </a:solidFill>
              <a:latin typeface="Batang"/>
              <a:ea typeface="Batang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905488" y="4575115"/>
            <a:ext cx="6629400" cy="195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kern="0" spc="10" dirty="0" err="1">
                <a:latin typeface="Batang"/>
                <a:ea typeface="Batang"/>
              </a:rPr>
              <a:t>실제</a:t>
            </a:r>
            <a:r>
              <a:rPr sz="1400" b="0" kern="0" spc="10" dirty="0">
                <a:latin typeface="Batang"/>
                <a:ea typeface="Batang"/>
              </a:rPr>
              <a:t> AP </a:t>
            </a:r>
            <a:r>
              <a:rPr sz="1400" b="0" kern="0" spc="10" dirty="0" err="1">
                <a:latin typeface="Batang"/>
                <a:ea typeface="Batang"/>
              </a:rPr>
              <a:t>환경</a:t>
            </a:r>
            <a:r>
              <a:rPr sz="1400" b="0" kern="0" spc="10" dirty="0">
                <a:latin typeface="Batang"/>
                <a:ea typeface="Batang"/>
              </a:rPr>
              <a:t> — Pi </a:t>
            </a:r>
            <a:r>
              <a:rPr sz="1400" b="0" kern="0" spc="10" dirty="0" err="1">
                <a:latin typeface="Batang"/>
                <a:ea typeface="Batang"/>
              </a:rPr>
              <a:t>수집</a:t>
            </a:r>
            <a:r>
              <a:rPr sz="1400" b="0" kern="0" spc="10" dirty="0">
                <a:latin typeface="Batang"/>
                <a:ea typeface="Batang"/>
              </a:rPr>
              <a:t> → </a:t>
            </a:r>
            <a:r>
              <a:rPr sz="1400" b="0" kern="0" spc="10" dirty="0" err="1">
                <a:latin typeface="Batang"/>
                <a:ea typeface="Batang"/>
              </a:rPr>
              <a:t>추론</a:t>
            </a:r>
            <a:r>
              <a:rPr sz="1400" b="0" kern="0" spc="10" dirty="0">
                <a:latin typeface="Batang"/>
                <a:ea typeface="Batang"/>
              </a:rPr>
              <a:t> → </a:t>
            </a:r>
            <a:r>
              <a:rPr sz="1400" b="0" kern="0" spc="10" dirty="0" err="1">
                <a:latin typeface="Batang"/>
                <a:ea typeface="Batang"/>
              </a:rPr>
              <a:t>채널</a:t>
            </a:r>
            <a:r>
              <a:rPr sz="1400" b="0" kern="0" spc="10" dirty="0">
                <a:latin typeface="Batang"/>
                <a:ea typeface="Batang"/>
              </a:rPr>
              <a:t> </a:t>
            </a:r>
            <a:r>
              <a:rPr sz="1400" b="0" kern="0" spc="10" dirty="0" err="1">
                <a:latin typeface="Batang"/>
                <a:ea typeface="Batang"/>
              </a:rPr>
              <a:t>전환</a:t>
            </a:r>
            <a:r>
              <a:rPr sz="1400" b="0" kern="0" spc="10" dirty="0">
                <a:latin typeface="Batang"/>
                <a:ea typeface="Batang"/>
              </a:rPr>
              <a:t> </a:t>
            </a:r>
            <a:r>
              <a:rPr sz="1400" b="0" kern="0" spc="10" dirty="0" err="1">
                <a:latin typeface="Batang"/>
                <a:ea typeface="Batang"/>
              </a:rPr>
              <a:t>방향</a:t>
            </a:r>
            <a:r>
              <a:rPr sz="1400" b="0" kern="0" spc="10" dirty="0">
                <a:latin typeface="Batang"/>
                <a:ea typeface="Batang"/>
              </a:rPr>
              <a:t> </a:t>
            </a:r>
            <a:r>
              <a:rPr sz="1400" b="0" kern="0" spc="10" dirty="0" err="1">
                <a:latin typeface="Batang"/>
                <a:ea typeface="Batang"/>
              </a:rPr>
              <a:t>제시</a:t>
            </a:r>
            <a:endParaRPr sz="1400" b="0" kern="0" spc="10" dirty="0">
              <a:latin typeface="Batang"/>
              <a:ea typeface="Batang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61956" y="5224992"/>
            <a:ext cx="5029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kern="0" spc="10">
                <a:solidFill>
                  <a:srgbClr val="BBBBBB"/>
                </a:solidFill>
                <a:latin typeface="Batang"/>
                <a:ea typeface="Batang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13648" y="5317324"/>
            <a:ext cx="31089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kern="0" spc="10">
                <a:solidFill>
                  <a:srgbClr val="111111"/>
                </a:solidFill>
                <a:latin typeface="Batang"/>
                <a:ea typeface="Batang"/>
              </a:rPr>
              <a:t>실환경 시연 검증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05488" y="5369981"/>
            <a:ext cx="6629400" cy="195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kern="0" spc="10" dirty="0" err="1">
                <a:latin typeface="Batang"/>
                <a:ea typeface="Batang"/>
              </a:rPr>
              <a:t>OpenWrt</a:t>
            </a:r>
            <a:r>
              <a:rPr sz="1400" b="0" kern="0" spc="10" dirty="0">
                <a:latin typeface="Batang"/>
                <a:ea typeface="Batang"/>
              </a:rPr>
              <a:t> </a:t>
            </a:r>
            <a:r>
              <a:rPr sz="1400" b="0" kern="0" spc="10" dirty="0" err="1">
                <a:latin typeface="Batang"/>
                <a:ea typeface="Batang"/>
              </a:rPr>
              <a:t>실환경</a:t>
            </a:r>
            <a:r>
              <a:rPr sz="1400" b="0" kern="0" spc="10" dirty="0">
                <a:latin typeface="Batang"/>
                <a:ea typeface="Batang"/>
              </a:rPr>
              <a:t> </a:t>
            </a:r>
            <a:r>
              <a:rPr sz="1400" b="0" kern="0" spc="10" dirty="0" err="1">
                <a:latin typeface="Batang"/>
                <a:ea typeface="Batang"/>
              </a:rPr>
              <a:t>시연</a:t>
            </a:r>
            <a:r>
              <a:rPr sz="1400" b="0" kern="0" spc="10" dirty="0">
                <a:latin typeface="Batang"/>
                <a:ea typeface="Batang"/>
              </a:rPr>
              <a:t> </a:t>
            </a:r>
            <a:r>
              <a:rPr sz="1400" b="0" kern="0" spc="10" dirty="0" err="1">
                <a:latin typeface="Batang"/>
                <a:ea typeface="Batang"/>
              </a:rPr>
              <a:t>평가</a:t>
            </a:r>
            <a:r>
              <a:rPr sz="1400" b="0" kern="0" spc="10" dirty="0">
                <a:latin typeface="Batang"/>
                <a:ea typeface="Batang"/>
              </a:rPr>
              <a:t> · Pi </a:t>
            </a:r>
            <a:r>
              <a:rPr sz="1400" b="0" kern="0" spc="10" dirty="0" err="1">
                <a:latin typeface="Batang"/>
                <a:ea typeface="Batang"/>
              </a:rPr>
              <a:t>실기기</a:t>
            </a:r>
            <a:r>
              <a:rPr sz="1400" b="0" kern="0" spc="10" dirty="0">
                <a:latin typeface="Batang"/>
                <a:ea typeface="Batang"/>
              </a:rPr>
              <a:t> </a:t>
            </a:r>
            <a:r>
              <a:rPr sz="1400" b="0" kern="0" spc="10" dirty="0" err="1">
                <a:latin typeface="Batang"/>
                <a:ea typeface="Batang"/>
              </a:rPr>
              <a:t>추론</a:t>
            </a:r>
            <a:r>
              <a:rPr sz="1400" b="0" kern="0" spc="10" dirty="0">
                <a:latin typeface="Batang"/>
                <a:ea typeface="Batang"/>
              </a:rPr>
              <a:t> </a:t>
            </a:r>
            <a:r>
              <a:rPr sz="1400" b="0" kern="0" spc="10" dirty="0" err="1">
                <a:latin typeface="Batang"/>
                <a:ea typeface="Batang"/>
              </a:rPr>
              <a:t>시간</a:t>
            </a:r>
            <a:r>
              <a:rPr sz="1400" b="0" kern="0" spc="10" dirty="0">
                <a:latin typeface="Batang"/>
                <a:ea typeface="Batang"/>
              </a:rPr>
              <a:t> </a:t>
            </a:r>
            <a:r>
              <a:rPr sz="1400" b="0" kern="0" spc="10" dirty="0" err="1">
                <a:latin typeface="Batang"/>
                <a:ea typeface="Batang"/>
              </a:rPr>
              <a:t>실측</a:t>
            </a:r>
            <a:endParaRPr sz="1400" b="0" kern="0" spc="10" dirty="0">
              <a:latin typeface="Batang"/>
              <a:ea typeface="Batang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추진</a:t>
            </a:r>
            <a:r>
              <a:rPr lang="en-US" sz="29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 </a:t>
            </a:r>
            <a:r>
              <a:rPr lang="en-US" sz="2900" b="1" dirty="0" err="1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일정</a:t>
            </a:r>
            <a:endParaRPr lang="en-US" sz="2900" dirty="0">
              <a:solidFill>
                <a:srgbClr val="FF0000"/>
              </a:solidFill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48640" y="1925620"/>
          <a:ext cx="11064240" cy="395020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구분</a:t>
                      </a:r>
                      <a:endParaRPr lang="en-US" sz="12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주차</a:t>
                      </a:r>
                      <a:endParaRPr lang="en-US" sz="12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주요 내용</a:t>
                      </a:r>
                      <a:endParaRPr lang="en-US" sz="12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1학기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1~10주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시뮬레이터·데이터셋 → EE-LSTM·동적 threshold → 4개 방식 비교 → INT8/ONNX → Pi 배포 실측 → 보고서 (완료)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방학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1~2주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(사전 준비) GL.iNet AP 환경 구축, 실제 WiFi 트래픽 수집 환경 세팅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방학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3~4주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유사 논문 조사 및 비교 실험 추가 (연산량 절감 중심)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방학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5주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실제 WiFi 데이터 수집·전처리, 시뮬레이터 노이즈 추가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방학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6주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동적 threshold 경량화 개선·재실험, 원본 ONNX 비교 실험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방학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7주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실제 AP 환경 Pi 실시간 혼잡 추론 파이프라인 실험 (수집→추론→채널 전환 제시)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방학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8주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최종 결과 통합, 보고서 초안 완성, 발표 자료 제작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2학기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1주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Batang" pitchFamily="34" charset="0"/>
                          <a:ea typeface="Batang" pitchFamily="34" charset="-122"/>
                          <a:cs typeface="Batang" pitchFamily="34" charset="-120"/>
                        </a:rPr>
                        <a:t>중간 발표, 오류 검토 및 최종 보완</a:t>
                      </a:r>
                      <a:endParaRPr lang="en-US" sz="1150" dirty="0">
                        <a:latin typeface="Batang" charset="0"/>
                        <a:ea typeface="Batang" charset="0"/>
                        <a:cs typeface="Batang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8</a:t>
            </a:r>
            <a:endParaRPr lang="en-US" sz="1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7294055-EF07-61BD-600E-17A80FFD6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482" y="236662"/>
            <a:ext cx="965452" cy="9639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프로젝트</a:t>
            </a:r>
            <a:r>
              <a:rPr lang="en-US" sz="29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 </a:t>
            </a:r>
            <a:r>
              <a:rPr lang="en-US" sz="2900" b="1" dirty="0" err="1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관리체계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12</a:t>
            </a:r>
            <a:endParaRPr lang="en-US" sz="10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9605E79-0761-7BCC-3561-742D0720C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482" y="236662"/>
            <a:ext cx="965452" cy="963934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58414" y="2186133"/>
            <a:ext cx="1828800" cy="292608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400" b="1" kern="0" spc="15">
                <a:solidFill>
                  <a:srgbClr val="111111"/>
                </a:solidFill>
                <a:latin typeface="Batang"/>
                <a:ea typeface="Batang"/>
              </a:rPr>
              <a:t>역할 분리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414" y="2661621"/>
            <a:ext cx="4754880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kern="0" spc="10" dirty="0" err="1">
                <a:latin typeface="Batang"/>
                <a:ea typeface="Batang"/>
              </a:rPr>
              <a:t>환경</a:t>
            </a:r>
            <a:r>
              <a:rPr sz="1600" b="0" kern="0" spc="10" dirty="0">
                <a:latin typeface="Batang"/>
                <a:ea typeface="Batang"/>
              </a:rPr>
              <a:t> · </a:t>
            </a:r>
            <a:r>
              <a:rPr sz="1600" b="0" kern="0" spc="10" dirty="0" err="1">
                <a:latin typeface="Batang"/>
                <a:ea typeface="Batang"/>
              </a:rPr>
              <a:t>데이터</a:t>
            </a:r>
            <a:r>
              <a:rPr sz="1600" b="0" kern="0" spc="10" dirty="0">
                <a:latin typeface="Batang"/>
                <a:ea typeface="Batang"/>
              </a:rPr>
              <a:t> </a:t>
            </a:r>
            <a:r>
              <a:rPr lang="en-US" sz="1600" b="0" kern="0" spc="10" dirty="0">
                <a:latin typeface="Batang"/>
                <a:ea typeface="Batang"/>
              </a:rPr>
              <a:t>/ </a:t>
            </a:r>
            <a:r>
              <a:rPr sz="1600" b="0" kern="0" spc="10" dirty="0" err="1">
                <a:latin typeface="Batang"/>
                <a:ea typeface="Batang"/>
              </a:rPr>
              <a:t>모델</a:t>
            </a:r>
            <a:r>
              <a:rPr sz="1600" b="0" kern="0" spc="10" dirty="0">
                <a:latin typeface="Batang"/>
                <a:ea typeface="Batang"/>
              </a:rPr>
              <a:t> </a:t>
            </a:r>
            <a:r>
              <a:rPr sz="1600" b="0" kern="0" spc="10" dirty="0" err="1">
                <a:latin typeface="Batang"/>
                <a:ea typeface="Batang"/>
              </a:rPr>
              <a:t>설계</a:t>
            </a:r>
            <a:r>
              <a:rPr lang="en-US" sz="1600" kern="0" spc="10" dirty="0">
                <a:latin typeface="Batang"/>
                <a:ea typeface="Batang"/>
              </a:rPr>
              <a:t> / </a:t>
            </a:r>
            <a:r>
              <a:rPr sz="1600" b="0" kern="0" spc="10" dirty="0" err="1">
                <a:latin typeface="Batang"/>
                <a:ea typeface="Batang"/>
              </a:rPr>
              <a:t>경량화</a:t>
            </a:r>
            <a:r>
              <a:rPr sz="1600" b="0" kern="0" spc="10" dirty="0">
                <a:latin typeface="Batang"/>
                <a:ea typeface="Batang"/>
              </a:rPr>
              <a:t> · </a:t>
            </a:r>
            <a:r>
              <a:rPr sz="1600" b="0" kern="0" spc="10" dirty="0" err="1">
                <a:latin typeface="Batang"/>
                <a:ea typeface="Batang"/>
              </a:rPr>
              <a:t>배포</a:t>
            </a:r>
            <a:endParaRPr sz="1600" b="0" kern="0" spc="10" dirty="0">
              <a:latin typeface="Batang"/>
              <a:ea typeface="Batang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kern="0" spc="10" dirty="0" err="1">
                <a:latin typeface="Batang"/>
                <a:ea typeface="Batang"/>
              </a:rPr>
              <a:t>단계별</a:t>
            </a:r>
            <a:r>
              <a:rPr sz="1600" b="0" kern="0" spc="10" dirty="0">
                <a:latin typeface="Batang"/>
                <a:ea typeface="Batang"/>
              </a:rPr>
              <a:t> </a:t>
            </a:r>
            <a:r>
              <a:rPr sz="1600" b="0" kern="0" spc="10" dirty="0" err="1">
                <a:latin typeface="Batang"/>
                <a:ea typeface="Batang"/>
              </a:rPr>
              <a:t>가이드라인</a:t>
            </a:r>
            <a:r>
              <a:rPr sz="1600" b="0" kern="0" spc="10" dirty="0">
                <a:latin typeface="Batang"/>
                <a:ea typeface="Batang"/>
              </a:rPr>
              <a:t> </a:t>
            </a:r>
            <a:r>
              <a:rPr sz="1600" b="0" kern="0" spc="10" dirty="0" err="1">
                <a:latin typeface="Batang"/>
                <a:ea typeface="Batang"/>
              </a:rPr>
              <a:t>사전</a:t>
            </a:r>
            <a:r>
              <a:rPr sz="1600" b="0" kern="0" spc="10" dirty="0">
                <a:latin typeface="Batang"/>
                <a:ea typeface="Batang"/>
              </a:rPr>
              <a:t> </a:t>
            </a:r>
            <a:r>
              <a:rPr sz="1600" b="0" kern="0" spc="10" dirty="0" err="1">
                <a:latin typeface="Batang"/>
                <a:ea typeface="Batang"/>
              </a:rPr>
              <a:t>작성</a:t>
            </a:r>
            <a:r>
              <a:rPr sz="1600" b="0" kern="0" spc="10" dirty="0">
                <a:latin typeface="Batang"/>
                <a:ea typeface="Batang"/>
              </a:rPr>
              <a:t> → </a:t>
            </a:r>
            <a:r>
              <a:rPr sz="1600" b="0" kern="0" spc="10" dirty="0" err="1">
                <a:latin typeface="Batang"/>
                <a:ea typeface="Batang"/>
              </a:rPr>
              <a:t>독립</a:t>
            </a:r>
            <a:r>
              <a:rPr sz="1600" b="0" kern="0" spc="10" dirty="0">
                <a:latin typeface="Batang"/>
                <a:ea typeface="Batang"/>
              </a:rPr>
              <a:t> </a:t>
            </a:r>
            <a:r>
              <a:rPr sz="1600" b="0" kern="0" spc="10" dirty="0" err="1">
                <a:latin typeface="Batang"/>
                <a:ea typeface="Batang"/>
              </a:rPr>
              <a:t>작업</a:t>
            </a:r>
            <a:endParaRPr sz="1600" b="0" kern="0" spc="10" dirty="0">
              <a:latin typeface="Batang"/>
              <a:ea typeface="Batang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58414" y="3960436"/>
            <a:ext cx="1828800" cy="292608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400" b="1" kern="0" spc="15">
                <a:solidFill>
                  <a:srgbClr val="111111"/>
                </a:solidFill>
                <a:latin typeface="Batang"/>
                <a:ea typeface="Batang"/>
              </a:rPr>
              <a:t>인터페이스 통일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414" y="4435924"/>
            <a:ext cx="4754880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kern="0" spc="10">
                <a:solidFill>
                  <a:srgbClr val="111111"/>
                </a:solidFill>
                <a:latin typeface="Batang"/>
                <a:ea typeface="Batang"/>
              </a:rPr>
              <a:t>데이터셋 shape · 라벨 기준 사전 정의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kern="0" spc="10">
                <a:solidFill>
                  <a:srgbClr val="555555"/>
                </a:solidFill>
                <a:latin typeface="Batang"/>
                <a:ea typeface="Batang"/>
              </a:rPr>
              <a:t>더미 데이터 병렬 개발 → 완성 후 경로만 교체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25005" y="2207648"/>
            <a:ext cx="1828800" cy="292608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400" b="1" kern="0" spc="15" dirty="0" err="1">
                <a:solidFill>
                  <a:srgbClr val="111111"/>
                </a:solidFill>
                <a:latin typeface="Batang"/>
                <a:ea typeface="Batang"/>
              </a:rPr>
              <a:t>공용</a:t>
            </a:r>
            <a:r>
              <a:rPr sz="1400" b="1" kern="0" spc="15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400" b="1" kern="0" spc="15" dirty="0" err="1">
                <a:solidFill>
                  <a:srgbClr val="111111"/>
                </a:solidFill>
                <a:latin typeface="Batang"/>
                <a:ea typeface="Batang"/>
              </a:rPr>
              <a:t>실험</a:t>
            </a:r>
            <a:r>
              <a:rPr sz="1400" b="1" kern="0" spc="15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400" b="1" kern="0" spc="15" dirty="0" err="1">
                <a:solidFill>
                  <a:srgbClr val="111111"/>
                </a:solidFill>
                <a:latin typeface="Batang"/>
                <a:ea typeface="Batang"/>
              </a:rPr>
              <a:t>환경</a:t>
            </a:r>
            <a:endParaRPr sz="1400" b="1" kern="0" spc="15" dirty="0">
              <a:solidFill>
                <a:srgbClr val="111111"/>
              </a:solidFill>
              <a:latin typeface="Batang"/>
              <a:ea typeface="Batang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25005" y="2683136"/>
            <a:ext cx="4754880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kern="0" spc="10">
                <a:solidFill>
                  <a:srgbClr val="111111"/>
                </a:solidFill>
                <a:latin typeface="Batang"/>
                <a:ea typeface="Batang"/>
              </a:rPr>
              <a:t>GL.iNet AP + Pi 환경 통일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kern="0" spc="10">
                <a:solidFill>
                  <a:srgbClr val="555555"/>
                </a:solidFill>
                <a:latin typeface="Batang"/>
                <a:ea typeface="Batang"/>
              </a:rPr>
              <a:t>결과 = 공유 저장소 CSV 즉시 공유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25005" y="3960436"/>
            <a:ext cx="1417320" cy="292608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400" b="1" kern="0" spc="15" dirty="0" err="1">
                <a:solidFill>
                  <a:srgbClr val="111111"/>
                </a:solidFill>
                <a:latin typeface="Batang"/>
                <a:ea typeface="Batang"/>
              </a:rPr>
              <a:t>수행</a:t>
            </a:r>
            <a:r>
              <a:rPr sz="1400" b="1" kern="0" spc="15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400" b="1" kern="0" spc="15" dirty="0" err="1">
                <a:solidFill>
                  <a:srgbClr val="111111"/>
                </a:solidFill>
                <a:latin typeface="Batang"/>
                <a:ea typeface="Batang"/>
              </a:rPr>
              <a:t>도구</a:t>
            </a:r>
            <a:endParaRPr sz="1400" b="1" kern="0" spc="15" dirty="0">
              <a:solidFill>
                <a:srgbClr val="111111"/>
              </a:solidFill>
              <a:latin typeface="Batang"/>
              <a:ea typeface="Batang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25005" y="4435924"/>
            <a:ext cx="5187875" cy="6624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kern="0" spc="10" dirty="0" err="1">
                <a:latin typeface="Batang"/>
                <a:ea typeface="Batang"/>
              </a:rPr>
              <a:t>PyTorch</a:t>
            </a:r>
            <a:r>
              <a:rPr sz="1400" b="0" kern="0" spc="10" dirty="0">
                <a:latin typeface="Batang"/>
                <a:ea typeface="Batang"/>
              </a:rPr>
              <a:t> 2.x · ONNX Runtime · </a:t>
            </a:r>
            <a:r>
              <a:rPr sz="1400" b="0" kern="0" spc="10" dirty="0" err="1">
                <a:latin typeface="Batang"/>
                <a:ea typeface="Batang"/>
              </a:rPr>
              <a:t>PyTorch</a:t>
            </a:r>
            <a:r>
              <a:rPr sz="1400" b="0" kern="0" spc="10" dirty="0">
                <a:latin typeface="Batang"/>
                <a:ea typeface="Batang"/>
              </a:rPr>
              <a:t> Quantization API (INT8)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 kern="0" spc="10" dirty="0">
                <a:latin typeface="Batang"/>
                <a:ea typeface="Batang"/>
              </a:rPr>
              <a:t>NumPy / SciPy · </a:t>
            </a:r>
            <a:r>
              <a:rPr sz="1200" b="0" kern="0" spc="10" dirty="0" err="1">
                <a:latin typeface="Batang"/>
                <a:ea typeface="Batang"/>
              </a:rPr>
              <a:t>GL.iNet</a:t>
            </a:r>
            <a:r>
              <a:rPr sz="1200" b="0" kern="0" spc="10" dirty="0">
                <a:latin typeface="Batang"/>
                <a:ea typeface="Batang"/>
              </a:rPr>
              <a:t> + iperf3 · Raspberry Pi 4 · </a:t>
            </a:r>
            <a:r>
              <a:rPr sz="1200" b="0" kern="0" spc="10" dirty="0" err="1">
                <a:latin typeface="Batang"/>
                <a:ea typeface="Batang"/>
              </a:rPr>
              <a:t>TensorBoard</a:t>
            </a:r>
            <a:endParaRPr sz="1200" b="0" kern="0" spc="10" dirty="0">
              <a:latin typeface="Batang"/>
              <a:ea typeface="Batang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팀 구성 및 역할 (1학기 → 2학기)</a:t>
            </a:r>
            <a:endParaRPr lang="en-US" sz="2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13</a:t>
            </a:r>
            <a:endParaRPr lang="en-US" sz="1000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138A4DBA-2D6A-58F4-7C59-1E9328887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482" y="236662"/>
            <a:ext cx="965452" cy="96393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2960" y="1828800"/>
            <a:ext cx="3200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kern="0" spc="10">
                <a:solidFill>
                  <a:srgbClr val="111111"/>
                </a:solidFill>
                <a:latin typeface="Batang"/>
                <a:ea typeface="Batang"/>
              </a:rPr>
              <a:t>장예나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31720" y="1838501"/>
            <a:ext cx="1508760" cy="274320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050" b="1" kern="0" spc="15">
                <a:solidFill>
                  <a:srgbClr val="111111"/>
                </a:solidFill>
                <a:latin typeface="Batang"/>
                <a:ea typeface="Batang"/>
              </a:rPr>
              <a:t>환경 · 데이터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2684889"/>
            <a:ext cx="3200400" cy="6120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 kern="0" spc="10">
                <a:solidFill>
                  <a:srgbClr val="888888"/>
                </a:solidFill>
                <a:latin typeface="Batang"/>
                <a:ea typeface="Batang"/>
              </a:rPr>
              <a:t>1학기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 kern="0" spc="10">
                <a:solidFill>
                  <a:srgbClr val="555555"/>
                </a:solidFill>
                <a:latin typeface="Batang"/>
                <a:ea typeface="Batang"/>
              </a:rPr>
              <a:t>트래픽 시뮬레이터 구현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 kern="0" spc="10">
                <a:solidFill>
                  <a:srgbClr val="555555"/>
                </a:solidFill>
                <a:latin typeface="Batang"/>
                <a:ea typeface="Batang"/>
              </a:rPr>
              <a:t>데이터셋 생성 · 결과 시각화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965049"/>
            <a:ext cx="3200400" cy="844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 kern="0" spc="10" dirty="0">
                <a:solidFill>
                  <a:srgbClr val="888888"/>
                </a:solidFill>
                <a:latin typeface="Batang"/>
                <a:ea typeface="Batang"/>
              </a:rPr>
              <a:t>2학기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실제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WiFi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데이터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수집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·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전처리</a:t>
            </a:r>
            <a:endParaRPr sz="1200" b="0" kern="0" spc="10" dirty="0">
              <a:solidFill>
                <a:srgbClr val="111111"/>
              </a:solidFill>
              <a:latin typeface="Batang"/>
              <a:ea typeface="Batang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시뮬레이터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노이즈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추가</a:t>
            </a:r>
            <a:endParaRPr sz="1200" b="0" kern="0" spc="10" dirty="0">
              <a:solidFill>
                <a:srgbClr val="111111"/>
              </a:solidFill>
              <a:latin typeface="Batang"/>
              <a:ea typeface="Batang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최종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결과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통합</a:t>
            </a:r>
            <a:endParaRPr sz="1200" b="0" kern="0" spc="10" dirty="0">
              <a:solidFill>
                <a:srgbClr val="111111"/>
              </a:solidFill>
              <a:latin typeface="Batang"/>
              <a:ea typeface="Batang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72000" y="1828800"/>
            <a:ext cx="3200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kern="0" spc="10">
                <a:solidFill>
                  <a:srgbClr val="111111"/>
                </a:solidFill>
                <a:latin typeface="Batang"/>
                <a:ea typeface="Batang"/>
              </a:rPr>
              <a:t>유용상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1838501"/>
            <a:ext cx="1508760" cy="274320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050" b="1" kern="0" spc="15">
                <a:solidFill>
                  <a:srgbClr val="111111"/>
                </a:solidFill>
                <a:latin typeface="Batang"/>
                <a:ea typeface="Batang"/>
              </a:rPr>
              <a:t>모델 설계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684889"/>
            <a:ext cx="3200400" cy="6120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 kern="0" spc="10">
                <a:solidFill>
                  <a:srgbClr val="888888"/>
                </a:solidFill>
                <a:latin typeface="Batang"/>
                <a:ea typeface="Batang"/>
              </a:rPr>
              <a:t>1학기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 kern="0" spc="10">
                <a:solidFill>
                  <a:srgbClr val="555555"/>
                </a:solidFill>
                <a:latin typeface="Batang"/>
                <a:ea typeface="Batang"/>
              </a:rPr>
              <a:t>Early Exit LSTM 설계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 kern="0" spc="10">
                <a:solidFill>
                  <a:srgbClr val="555555"/>
                </a:solidFill>
                <a:latin typeface="Batang"/>
                <a:ea typeface="Batang"/>
              </a:rPr>
              <a:t>동적 threshold 설계 · 학습 · 튜닝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965049"/>
            <a:ext cx="3200400" cy="844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 kern="0" spc="10" dirty="0">
                <a:solidFill>
                  <a:srgbClr val="888888"/>
                </a:solidFill>
                <a:latin typeface="Batang"/>
                <a:ea typeface="Batang"/>
              </a:rPr>
              <a:t>2학기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동적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threshold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경량화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개선</a:t>
            </a:r>
            <a:endParaRPr sz="1200" b="0" kern="0" spc="10" dirty="0">
              <a:solidFill>
                <a:srgbClr val="111111"/>
              </a:solidFill>
              <a:latin typeface="Batang"/>
              <a:ea typeface="Batang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실제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데이터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재실험</a:t>
            </a:r>
            <a:endParaRPr sz="1200" b="0" kern="0" spc="10" dirty="0">
              <a:solidFill>
                <a:srgbClr val="111111"/>
              </a:solidFill>
              <a:latin typeface="Batang"/>
              <a:ea typeface="Batang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보고서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모델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섹션</a:t>
            </a:r>
            <a:endParaRPr sz="1200" b="0" kern="0" spc="10" dirty="0">
              <a:solidFill>
                <a:srgbClr val="111111"/>
              </a:solidFill>
              <a:latin typeface="Batang"/>
              <a:ea typeface="Batang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21040" y="1828800"/>
            <a:ext cx="3200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kern="0" spc="10">
                <a:solidFill>
                  <a:srgbClr val="111111"/>
                </a:solidFill>
                <a:latin typeface="Batang"/>
                <a:ea typeface="Batang"/>
              </a:rPr>
              <a:t>김호중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38359" y="1831479"/>
            <a:ext cx="1508760" cy="274320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050" b="1" kern="0" spc="15">
                <a:solidFill>
                  <a:srgbClr val="111111"/>
                </a:solidFill>
                <a:latin typeface="Batang"/>
                <a:ea typeface="Batang"/>
              </a:rPr>
              <a:t>경량화 · 배포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684889"/>
            <a:ext cx="3200400" cy="6120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 kern="0" spc="10">
                <a:solidFill>
                  <a:srgbClr val="888888"/>
                </a:solidFill>
                <a:latin typeface="Batang"/>
                <a:ea typeface="Batang"/>
              </a:rPr>
              <a:t>1학기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 kern="0" spc="10">
                <a:solidFill>
                  <a:srgbClr val="555555"/>
                </a:solidFill>
                <a:latin typeface="Batang"/>
                <a:ea typeface="Batang"/>
              </a:rPr>
              <a:t>베이스라인 LSTM · 비교 실험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 kern="0" spc="10">
                <a:solidFill>
                  <a:srgbClr val="555555"/>
                </a:solidFill>
                <a:latin typeface="Batang"/>
                <a:ea typeface="Batang"/>
              </a:rPr>
              <a:t>Quantization · ONNX · Pi 배포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965049"/>
            <a:ext cx="3200400" cy="844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 kern="0" spc="10" dirty="0">
                <a:solidFill>
                  <a:srgbClr val="888888"/>
                </a:solidFill>
                <a:latin typeface="Batang"/>
                <a:ea typeface="Batang"/>
              </a:rPr>
              <a:t>2학기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AP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환경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구축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·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실시간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추론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파이프라인</a:t>
            </a:r>
            <a:endParaRPr sz="1200" b="0" kern="0" spc="10" dirty="0">
              <a:solidFill>
                <a:srgbClr val="111111"/>
              </a:solidFill>
              <a:latin typeface="Batang"/>
              <a:ea typeface="Batang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원본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ONNX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비교</a:t>
            </a:r>
            <a:endParaRPr sz="1200" b="0" kern="0" spc="10" dirty="0">
              <a:solidFill>
                <a:srgbClr val="111111"/>
              </a:solidFill>
              <a:latin typeface="Batang"/>
              <a:ea typeface="Batang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보고서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경량화</a:t>
            </a:r>
            <a:r>
              <a:rPr sz="12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2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섹션</a:t>
            </a:r>
            <a:endParaRPr sz="1200" b="0" kern="0" spc="10" dirty="0">
              <a:solidFill>
                <a:srgbClr val="111111"/>
              </a:solidFill>
              <a:latin typeface="Batang"/>
              <a:ea typeface="Batang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4206240" y="1920240"/>
            <a:ext cx="0" cy="356616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955279" y="1920240"/>
            <a:ext cx="0" cy="356616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900" b="1" dirty="0">
                <a:solidFill>
                  <a:srgbClr val="00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기대효과 </a:t>
            </a:r>
            <a:r>
              <a:rPr lang="ko-KR" altLang="en-US" sz="2900" b="1" dirty="0">
                <a:solidFill>
                  <a:srgbClr val="FF00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위치 앞으로 변경할 예정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14</a:t>
            </a:r>
            <a:endParaRPr lang="en-US" sz="10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B406E39-D264-2C2A-F501-42D8491A9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482" y="236662"/>
            <a:ext cx="965452" cy="96393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62448" y="2546056"/>
            <a:ext cx="1188720" cy="310896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200" b="1" kern="0" spc="15" dirty="0" err="1">
                <a:solidFill>
                  <a:srgbClr val="111111"/>
                </a:solidFill>
                <a:latin typeface="Batang"/>
                <a:ea typeface="Batang"/>
              </a:rPr>
              <a:t>사회적</a:t>
            </a:r>
            <a:endParaRPr sz="1200" b="1" kern="0" spc="15" dirty="0">
              <a:solidFill>
                <a:srgbClr val="111111"/>
              </a:solidFill>
              <a:latin typeface="Batang"/>
              <a:ea typeface="Batang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2448" y="3140416"/>
            <a:ext cx="3200400" cy="981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엣지</a:t>
            </a:r>
            <a:r>
              <a:rPr sz="14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4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AI가</a:t>
            </a:r>
            <a:r>
              <a:rPr sz="14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4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혼잡</a:t>
            </a:r>
            <a:r>
              <a:rPr sz="14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4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자동</a:t>
            </a:r>
            <a:r>
              <a:rPr sz="14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4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판단</a:t>
            </a:r>
            <a:r>
              <a:rPr sz="1400" b="0" kern="0" spc="10" dirty="0">
                <a:solidFill>
                  <a:srgbClr val="111111"/>
                </a:solidFill>
                <a:latin typeface="Batang"/>
                <a:ea typeface="Batang"/>
              </a:rPr>
              <a:t> · </a:t>
            </a:r>
            <a:r>
              <a:rPr sz="14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채널</a:t>
            </a:r>
            <a:r>
              <a:rPr sz="14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4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전환</a:t>
            </a:r>
            <a:r>
              <a:rPr sz="14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4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방향</a:t>
            </a:r>
            <a:r>
              <a:rPr sz="1400" b="0" kern="0" spc="10" dirty="0">
                <a:solidFill>
                  <a:srgbClr val="111111"/>
                </a:solidFill>
                <a:latin typeface="Batang"/>
                <a:ea typeface="Batang"/>
              </a:rPr>
              <a:t> </a:t>
            </a:r>
            <a:r>
              <a:rPr sz="1400" b="0" kern="0" spc="10" dirty="0" err="1">
                <a:solidFill>
                  <a:srgbClr val="111111"/>
                </a:solidFill>
                <a:latin typeface="Batang"/>
                <a:ea typeface="Batang"/>
              </a:rPr>
              <a:t>제시</a:t>
            </a:r>
            <a:endParaRPr sz="1400" b="0" kern="0" spc="10" dirty="0">
              <a:solidFill>
                <a:srgbClr val="111111"/>
              </a:solidFill>
              <a:latin typeface="Batang"/>
              <a:ea typeface="Batang"/>
            </a:endParaRP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전송</a:t>
            </a:r>
            <a:r>
              <a:rPr sz="140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4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오류</a:t>
            </a:r>
            <a:r>
              <a:rPr sz="1400" b="0" kern="0" spc="10" dirty="0">
                <a:solidFill>
                  <a:srgbClr val="555555"/>
                </a:solidFill>
                <a:latin typeface="Batang"/>
                <a:ea typeface="Batang"/>
              </a:rPr>
              <a:t> · </a:t>
            </a:r>
            <a:r>
              <a:rPr sz="14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제어</a:t>
            </a:r>
            <a:r>
              <a:rPr sz="140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4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지연</a:t>
            </a:r>
            <a:r>
              <a:rPr sz="1400" b="0" kern="0" spc="10" dirty="0">
                <a:solidFill>
                  <a:srgbClr val="555555"/>
                </a:solidFill>
                <a:latin typeface="Batang"/>
                <a:ea typeface="Batang"/>
              </a:rPr>
              <a:t> · </a:t>
            </a:r>
            <a:r>
              <a:rPr sz="14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작업</a:t>
            </a:r>
            <a:r>
              <a:rPr sz="140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4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중단</a:t>
            </a:r>
            <a:r>
              <a:rPr sz="140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4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감소</a:t>
            </a:r>
            <a:r>
              <a:rPr sz="1400" b="0" kern="0" spc="10" dirty="0">
                <a:solidFill>
                  <a:srgbClr val="555555"/>
                </a:solidFill>
                <a:latin typeface="Batang"/>
                <a:ea typeface="Batang"/>
              </a:rPr>
              <a:t> → </a:t>
            </a:r>
            <a:r>
              <a:rPr sz="14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생산</a:t>
            </a:r>
            <a:r>
              <a:rPr sz="140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4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효율</a:t>
            </a:r>
            <a:r>
              <a:rPr sz="1400" b="0" kern="0" spc="10" dirty="0">
                <a:solidFill>
                  <a:srgbClr val="555555"/>
                </a:solidFill>
                <a:latin typeface="Batang"/>
                <a:ea typeface="Batang"/>
              </a:rPr>
              <a:t> · </a:t>
            </a:r>
            <a:r>
              <a:rPr sz="14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작업자</a:t>
            </a:r>
            <a:r>
              <a:rPr sz="140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4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안전성</a:t>
            </a:r>
            <a:r>
              <a:rPr sz="1400" b="0" kern="0" spc="10" dirty="0">
                <a:solidFill>
                  <a:srgbClr val="555555"/>
                </a:solidFill>
                <a:latin typeface="Batang"/>
                <a:ea typeface="Batang"/>
              </a:rPr>
              <a:t> </a:t>
            </a:r>
            <a:r>
              <a:rPr sz="1400" b="0" kern="0" spc="10" dirty="0" err="1">
                <a:solidFill>
                  <a:srgbClr val="555555"/>
                </a:solidFill>
                <a:latin typeface="Batang"/>
                <a:ea typeface="Batang"/>
              </a:rPr>
              <a:t>개선</a:t>
            </a:r>
            <a:endParaRPr sz="1400" b="0" kern="0" spc="10" dirty="0">
              <a:solidFill>
                <a:srgbClr val="555555"/>
              </a:solidFill>
              <a:latin typeface="Batang"/>
              <a:ea typeface="Batang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11488" y="2546056"/>
            <a:ext cx="1188720" cy="310896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200" b="1" kern="0" spc="15">
                <a:solidFill>
                  <a:srgbClr val="111111"/>
                </a:solidFill>
                <a:latin typeface="Batang"/>
                <a:ea typeface="Batang"/>
              </a:rPr>
              <a:t>기술적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1488" y="3140416"/>
            <a:ext cx="3200400" cy="981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kern="0" spc="10">
                <a:solidFill>
                  <a:srgbClr val="111111"/>
                </a:solidFill>
                <a:latin typeface="Batang"/>
                <a:ea typeface="Batang"/>
              </a:rPr>
              <a:t>트래픽 변동률 기반 threshold 조정 — 학계 미해결 과제 접근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kern="0" spc="10">
                <a:solidFill>
                  <a:srgbClr val="555555"/>
                </a:solidFill>
                <a:latin typeface="Batang"/>
                <a:ea typeface="Batang"/>
              </a:rPr>
              <a:t>클라우드 없는 단독 구조 → 재난망 · 군 통신망 · 임시 현장 확장 가능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60528" y="2546056"/>
            <a:ext cx="1188720" cy="310896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200" b="1" kern="0" spc="15">
                <a:solidFill>
                  <a:srgbClr val="111111"/>
                </a:solidFill>
                <a:latin typeface="Batang"/>
                <a:ea typeface="Batang"/>
              </a:rPr>
              <a:t>경제적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0528" y="3140416"/>
            <a:ext cx="3200400" cy="981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kern="0" spc="10">
                <a:solidFill>
                  <a:srgbClr val="111111"/>
                </a:solidFill>
                <a:latin typeface="Batang"/>
                <a:ea typeface="Batang"/>
              </a:rPr>
              <a:t>기존 솔루션(Cisco · Juniper Mist) = 고성능 장비 + 클라우드 전제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kern="0" spc="10">
                <a:solidFill>
                  <a:srgbClr val="555555"/>
                </a:solidFill>
                <a:latin typeface="Batang"/>
                <a:ea typeface="Batang"/>
              </a:rPr>
              <a:t>Pi 수준 저가 기기 + SW로 기존 AP 적용 → 투자 · 유지관리 부담 완화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" y="5394960"/>
            <a:ext cx="10698480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22960" y="5687568"/>
            <a:ext cx="1417320" cy="292608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100" b="1" kern="0" spc="15">
                <a:solidFill>
                  <a:srgbClr val="111111"/>
                </a:solidFill>
                <a:latin typeface="Batang"/>
                <a:ea typeface="Batang"/>
              </a:rPr>
              <a:t>향후 확장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724144"/>
            <a:ext cx="90525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kern="0" spc="10">
                <a:solidFill>
                  <a:srgbClr val="555555"/>
                </a:solidFill>
                <a:latin typeface="Batang"/>
                <a:ea typeface="Batang"/>
              </a:rPr>
              <a:t>멀티 AP 환경 확장 → 실환경 데이터 재학습 → OpenWrt 채널 전환 API 연동 → 학술대회 논문 투고 검토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감사합니다</a:t>
            </a:r>
            <a:endParaRPr lang="en-US" sz="4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69540D3-E940-43E1-2321-6B124617E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482" y="236662"/>
            <a:ext cx="965452" cy="9639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7D87854-3567-41A4-94C7-C5FD876B8BB4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366fa87a-c36b-44e4-ada0-7380860b04c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1177</Words>
  <Application>Microsoft Office PowerPoint</Application>
  <PresentationFormat>와이드스크린</PresentationFormat>
  <Paragraphs>243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Batang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용상 유</cp:lastModifiedBy>
  <cp:revision>6</cp:revision>
  <dcterms:created xsi:type="dcterms:W3CDTF">2026-07-13T10:01:05Z</dcterms:created>
  <dcterms:modified xsi:type="dcterms:W3CDTF">2026-07-15T12:30:14Z</dcterms:modified>
</cp:coreProperties>
</file>